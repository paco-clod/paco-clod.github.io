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89721" autoAdjust="0"/>
  </p:normalViewPr>
  <p:slideViewPr>
    <p:cSldViewPr snapToGrid="0">
      <p:cViewPr varScale="1">
        <p:scale>
          <a:sx n="82" d="100"/>
          <a:sy n="82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C8F61-8772-4003-9E80-B872970F1F5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2807AC-E78E-4ABF-AE60-9C1F5BA6FFC7}">
      <dgm:prSet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sz="2000" b="1" dirty="0" smtClean="0">
              <a:latin typeface="Century Gothic" panose="020B0502020202020204" pitchFamily="34" charset="0"/>
            </a:rPr>
            <a:t>Pour les agriculteurs </a:t>
          </a:r>
          <a:r>
            <a:rPr lang="fr-FR" sz="2000" dirty="0" smtClean="0">
              <a:latin typeface="Century Gothic" panose="020B0502020202020204" pitchFamily="34" charset="0"/>
            </a:rPr>
            <a:t>: </a:t>
          </a:r>
          <a:endParaRPr lang="en-US" sz="2000" dirty="0">
            <a:latin typeface="Century Gothic" panose="020B0502020202020204" pitchFamily="34" charset="0"/>
          </a:endParaRPr>
        </a:p>
      </dgm:t>
    </dgm:pt>
    <dgm:pt modelId="{C820A59E-0D4D-4829-BBDC-544BB96E1388}" type="parTrans" cxnId="{A64AD746-D328-4A2D-B567-4156530BF6EC}">
      <dgm:prSet/>
      <dgm:spPr/>
      <dgm:t>
        <a:bodyPr/>
        <a:lstStyle/>
        <a:p>
          <a:endParaRPr lang="en-US"/>
        </a:p>
      </dgm:t>
    </dgm:pt>
    <dgm:pt modelId="{F908B900-0F21-4B5F-89A0-EAA728418040}" type="sibTrans" cxnId="{A64AD746-D328-4A2D-B567-4156530BF6EC}">
      <dgm:prSet/>
      <dgm:spPr/>
      <dgm:t>
        <a:bodyPr/>
        <a:lstStyle/>
        <a:p>
          <a:endParaRPr lang="en-US"/>
        </a:p>
      </dgm:t>
    </dgm:pt>
    <dgm:pt modelId="{9D62D3B0-105F-4832-965B-4F587456B84C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dirty="0" smtClean="0">
              <a:latin typeface="Century Gothic" panose="020B0502020202020204" pitchFamily="34" charset="0"/>
            </a:rPr>
            <a:t>prévisions adaptées pour semis, 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7EC42F0D-2FEE-4AA0-9BAE-7D27CA45C33F}" type="parTrans" cxnId="{23519DE7-3092-4AB7-BCAE-69DF051BF64F}">
      <dgm:prSet/>
      <dgm:spPr/>
      <dgm:t>
        <a:bodyPr/>
        <a:lstStyle/>
        <a:p>
          <a:endParaRPr lang="en-US"/>
        </a:p>
      </dgm:t>
    </dgm:pt>
    <dgm:pt modelId="{B7707499-8D0C-4C67-9EFD-9BC03FC7EBD0}" type="sibTrans" cxnId="{23519DE7-3092-4AB7-BCAE-69DF051BF64F}">
      <dgm:prSet/>
      <dgm:spPr/>
      <dgm:t>
        <a:bodyPr/>
        <a:lstStyle/>
        <a:p>
          <a:endParaRPr lang="en-US"/>
        </a:p>
      </dgm:t>
    </dgm:pt>
    <dgm:pt modelId="{E1C89742-75EC-4FDE-860C-6F8327DA5BC4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dirty="0" smtClean="0">
              <a:latin typeface="Century Gothic" panose="020B0502020202020204" pitchFamily="34" charset="0"/>
            </a:rPr>
            <a:t>irrigation, 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FB9CBB2C-30BA-492E-80C7-DFE4D038D259}" type="parTrans" cxnId="{9C4B57AC-EAE6-47E9-AE45-52AF9DFDFA93}">
      <dgm:prSet/>
      <dgm:spPr/>
      <dgm:t>
        <a:bodyPr/>
        <a:lstStyle/>
        <a:p>
          <a:endParaRPr lang="en-US"/>
        </a:p>
      </dgm:t>
    </dgm:pt>
    <dgm:pt modelId="{FEA7C379-C61F-42C7-B426-8E4845CBA92B}" type="sibTrans" cxnId="{9C4B57AC-EAE6-47E9-AE45-52AF9DFDFA93}">
      <dgm:prSet/>
      <dgm:spPr/>
      <dgm:t>
        <a:bodyPr/>
        <a:lstStyle/>
        <a:p>
          <a:endParaRPr lang="en-US"/>
        </a:p>
      </dgm:t>
    </dgm:pt>
    <dgm:pt modelId="{A9427091-5B07-475D-9654-C0E420D1AD3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smtClean="0">
              <a:latin typeface="Century Gothic" panose="020B0502020202020204" pitchFamily="34" charset="0"/>
            </a:rPr>
            <a:t>récoltes ; </a:t>
          </a:r>
          <a:endParaRPr lang="en-US" sz="1800">
            <a:latin typeface="Century Gothic" panose="020B0502020202020204" pitchFamily="34" charset="0"/>
          </a:endParaRPr>
        </a:p>
      </dgm:t>
    </dgm:pt>
    <dgm:pt modelId="{DFBB84E9-6469-4FEF-BBE4-6E39338D73B3}" type="parTrans" cxnId="{051205FC-947A-4DBA-8EC4-B624E5C06BD7}">
      <dgm:prSet/>
      <dgm:spPr/>
      <dgm:t>
        <a:bodyPr/>
        <a:lstStyle/>
        <a:p>
          <a:endParaRPr lang="en-US"/>
        </a:p>
      </dgm:t>
    </dgm:pt>
    <dgm:pt modelId="{D9CF1B3E-2F49-4095-A4DE-1347D746450F}" type="sibTrans" cxnId="{051205FC-947A-4DBA-8EC4-B624E5C06BD7}">
      <dgm:prSet/>
      <dgm:spPr/>
      <dgm:t>
        <a:bodyPr/>
        <a:lstStyle/>
        <a:p>
          <a:endParaRPr lang="en-US"/>
        </a:p>
      </dgm:t>
    </dgm:pt>
    <dgm:pt modelId="{5DBF3F2C-AF73-4B7A-A6E4-ECF3A8E5BEAC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smtClean="0">
              <a:latin typeface="Century Gothic" panose="020B0502020202020204" pitchFamily="34" charset="0"/>
            </a:rPr>
            <a:t>optimisation des cultures selon climat et type de sol ; </a:t>
          </a:r>
          <a:endParaRPr lang="en-US" sz="1800">
            <a:latin typeface="Century Gothic" panose="020B0502020202020204" pitchFamily="34" charset="0"/>
          </a:endParaRPr>
        </a:p>
      </dgm:t>
    </dgm:pt>
    <dgm:pt modelId="{3CC66544-AA86-46F3-B471-232EAD1A3CA4}" type="parTrans" cxnId="{CDF7D1EB-6D35-482E-9F69-064F2E0E26D6}">
      <dgm:prSet/>
      <dgm:spPr/>
      <dgm:t>
        <a:bodyPr/>
        <a:lstStyle/>
        <a:p>
          <a:endParaRPr lang="en-US"/>
        </a:p>
      </dgm:t>
    </dgm:pt>
    <dgm:pt modelId="{FC68430E-A904-4824-954B-38401542B41E}" type="sibTrans" cxnId="{CDF7D1EB-6D35-482E-9F69-064F2E0E26D6}">
      <dgm:prSet/>
      <dgm:spPr/>
      <dgm:t>
        <a:bodyPr/>
        <a:lstStyle/>
        <a:p>
          <a:endParaRPr lang="en-US"/>
        </a:p>
      </dgm:t>
    </dgm:pt>
    <dgm:pt modelId="{5BE6A9A9-5884-40C0-9A7F-02378B7FF394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smtClean="0">
              <a:latin typeface="Century Gothic" panose="020B0502020202020204" pitchFamily="34" charset="0"/>
            </a:rPr>
            <a:t>développement de l’agriculture hors saison.</a:t>
          </a:r>
          <a:endParaRPr lang="en-US" sz="1800">
            <a:latin typeface="Century Gothic" panose="020B0502020202020204" pitchFamily="34" charset="0"/>
          </a:endParaRPr>
        </a:p>
      </dgm:t>
    </dgm:pt>
    <dgm:pt modelId="{0DFAE08B-6905-4AE8-9999-8D6C188F4694}" type="parTrans" cxnId="{2DEA2046-1F75-4BDA-BC69-B0C6BC447321}">
      <dgm:prSet/>
      <dgm:spPr/>
      <dgm:t>
        <a:bodyPr/>
        <a:lstStyle/>
        <a:p>
          <a:endParaRPr lang="en-US"/>
        </a:p>
      </dgm:t>
    </dgm:pt>
    <dgm:pt modelId="{FFDDAA88-EE9F-4810-B0AF-1A15F8A2EFE7}" type="sibTrans" cxnId="{2DEA2046-1F75-4BDA-BC69-B0C6BC447321}">
      <dgm:prSet/>
      <dgm:spPr/>
      <dgm:t>
        <a:bodyPr/>
        <a:lstStyle/>
        <a:p>
          <a:endParaRPr lang="en-US"/>
        </a:p>
      </dgm:t>
    </dgm:pt>
    <dgm:pt modelId="{D98C18C4-C7E5-48C2-812C-D20DC112B355}" type="pres">
      <dgm:prSet presAssocID="{5D6C8F61-8772-4003-9E80-B872970F1F5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3E3F7A2-201B-4612-8E40-40FBA21EBF5E}" type="pres">
      <dgm:prSet presAssocID="{BB2807AC-E78E-4ABF-AE60-9C1F5BA6FFC7}" presName="linNode" presStyleCnt="0"/>
      <dgm:spPr/>
    </dgm:pt>
    <dgm:pt modelId="{D8AF5A60-A7D0-4D8D-8E1C-24AD8B9AE0D8}" type="pres">
      <dgm:prSet presAssocID="{BB2807AC-E78E-4ABF-AE60-9C1F5BA6FFC7}" presName="parentText" presStyleLbl="node1" presStyleIdx="0" presStyleCnt="1" custScaleX="99538" custScaleY="5792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D0109B-86F5-4252-A920-FACCA8C3A3A8}" type="pres">
      <dgm:prSet presAssocID="{BB2807AC-E78E-4ABF-AE60-9C1F5BA6FFC7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519DE7-3092-4AB7-BCAE-69DF051BF64F}" srcId="{BB2807AC-E78E-4ABF-AE60-9C1F5BA6FFC7}" destId="{9D62D3B0-105F-4832-965B-4F587456B84C}" srcOrd="0" destOrd="0" parTransId="{7EC42F0D-2FEE-4AA0-9BAE-7D27CA45C33F}" sibTransId="{B7707499-8D0C-4C67-9EFD-9BC03FC7EBD0}"/>
    <dgm:cxn modelId="{587E4961-B4D8-4B1B-9A54-5D2CFFD1C08A}" type="presOf" srcId="{A9427091-5B07-475D-9654-C0E420D1AD3E}" destId="{BFD0109B-86F5-4252-A920-FACCA8C3A3A8}" srcOrd="0" destOrd="2" presId="urn:microsoft.com/office/officeart/2005/8/layout/vList5"/>
    <dgm:cxn modelId="{B3625033-EAFF-4F86-9F7F-6F5AA3B90F76}" type="presOf" srcId="{5D6C8F61-8772-4003-9E80-B872970F1F59}" destId="{D98C18C4-C7E5-48C2-812C-D20DC112B355}" srcOrd="0" destOrd="0" presId="urn:microsoft.com/office/officeart/2005/8/layout/vList5"/>
    <dgm:cxn modelId="{051205FC-947A-4DBA-8EC4-B624E5C06BD7}" srcId="{BB2807AC-E78E-4ABF-AE60-9C1F5BA6FFC7}" destId="{A9427091-5B07-475D-9654-C0E420D1AD3E}" srcOrd="2" destOrd="0" parTransId="{DFBB84E9-6469-4FEF-BBE4-6E39338D73B3}" sibTransId="{D9CF1B3E-2F49-4095-A4DE-1347D746450F}"/>
    <dgm:cxn modelId="{B8ADC4A1-7B56-4728-8C97-4FD43F438298}" type="presOf" srcId="{5BE6A9A9-5884-40C0-9A7F-02378B7FF394}" destId="{BFD0109B-86F5-4252-A920-FACCA8C3A3A8}" srcOrd="0" destOrd="4" presId="urn:microsoft.com/office/officeart/2005/8/layout/vList5"/>
    <dgm:cxn modelId="{F50536DE-A4A8-4B0D-8F01-D2398529E709}" type="presOf" srcId="{E1C89742-75EC-4FDE-860C-6F8327DA5BC4}" destId="{BFD0109B-86F5-4252-A920-FACCA8C3A3A8}" srcOrd="0" destOrd="1" presId="urn:microsoft.com/office/officeart/2005/8/layout/vList5"/>
    <dgm:cxn modelId="{2DEA2046-1F75-4BDA-BC69-B0C6BC447321}" srcId="{BB2807AC-E78E-4ABF-AE60-9C1F5BA6FFC7}" destId="{5BE6A9A9-5884-40C0-9A7F-02378B7FF394}" srcOrd="4" destOrd="0" parTransId="{0DFAE08B-6905-4AE8-9999-8D6C188F4694}" sibTransId="{FFDDAA88-EE9F-4810-B0AF-1A15F8A2EFE7}"/>
    <dgm:cxn modelId="{CDF7D1EB-6D35-482E-9F69-064F2E0E26D6}" srcId="{BB2807AC-E78E-4ABF-AE60-9C1F5BA6FFC7}" destId="{5DBF3F2C-AF73-4B7A-A6E4-ECF3A8E5BEAC}" srcOrd="3" destOrd="0" parTransId="{3CC66544-AA86-46F3-B471-232EAD1A3CA4}" sibTransId="{FC68430E-A904-4824-954B-38401542B41E}"/>
    <dgm:cxn modelId="{14A0FB05-BBD1-4D64-8716-54790C381A94}" type="presOf" srcId="{BB2807AC-E78E-4ABF-AE60-9C1F5BA6FFC7}" destId="{D8AF5A60-A7D0-4D8D-8E1C-24AD8B9AE0D8}" srcOrd="0" destOrd="0" presId="urn:microsoft.com/office/officeart/2005/8/layout/vList5"/>
    <dgm:cxn modelId="{A64AD746-D328-4A2D-B567-4156530BF6EC}" srcId="{5D6C8F61-8772-4003-9E80-B872970F1F59}" destId="{BB2807AC-E78E-4ABF-AE60-9C1F5BA6FFC7}" srcOrd="0" destOrd="0" parTransId="{C820A59E-0D4D-4829-BBDC-544BB96E1388}" sibTransId="{F908B900-0F21-4B5F-89A0-EAA728418040}"/>
    <dgm:cxn modelId="{6C5EC1AF-B90E-4775-807D-CE1197D262E0}" type="presOf" srcId="{9D62D3B0-105F-4832-965B-4F587456B84C}" destId="{BFD0109B-86F5-4252-A920-FACCA8C3A3A8}" srcOrd="0" destOrd="0" presId="urn:microsoft.com/office/officeart/2005/8/layout/vList5"/>
    <dgm:cxn modelId="{9C4B57AC-EAE6-47E9-AE45-52AF9DFDFA93}" srcId="{BB2807AC-E78E-4ABF-AE60-9C1F5BA6FFC7}" destId="{E1C89742-75EC-4FDE-860C-6F8327DA5BC4}" srcOrd="1" destOrd="0" parTransId="{FB9CBB2C-30BA-492E-80C7-DFE4D038D259}" sibTransId="{FEA7C379-C61F-42C7-B426-8E4845CBA92B}"/>
    <dgm:cxn modelId="{33839155-6665-414C-B8D1-671753865323}" type="presOf" srcId="{5DBF3F2C-AF73-4B7A-A6E4-ECF3A8E5BEAC}" destId="{BFD0109B-86F5-4252-A920-FACCA8C3A3A8}" srcOrd="0" destOrd="3" presId="urn:microsoft.com/office/officeart/2005/8/layout/vList5"/>
    <dgm:cxn modelId="{86211B83-341B-4C5A-9522-45EB3681157E}" type="presParOf" srcId="{D98C18C4-C7E5-48C2-812C-D20DC112B355}" destId="{63E3F7A2-201B-4612-8E40-40FBA21EBF5E}" srcOrd="0" destOrd="0" presId="urn:microsoft.com/office/officeart/2005/8/layout/vList5"/>
    <dgm:cxn modelId="{EF363970-068B-4516-9E5A-E01A7926AC94}" type="presParOf" srcId="{63E3F7A2-201B-4612-8E40-40FBA21EBF5E}" destId="{D8AF5A60-A7D0-4D8D-8E1C-24AD8B9AE0D8}" srcOrd="0" destOrd="0" presId="urn:microsoft.com/office/officeart/2005/8/layout/vList5"/>
    <dgm:cxn modelId="{4C261227-0B24-49E2-B915-BADBC9001B97}" type="presParOf" srcId="{63E3F7A2-201B-4612-8E40-40FBA21EBF5E}" destId="{BFD0109B-86F5-4252-A920-FACCA8C3A3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14BAD1-D6D7-4F06-8716-107608F7354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7EEE5C-510D-4090-8ECE-42BCF0C1072D}">
      <dgm:prSet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sz="2000" b="1" dirty="0" smtClean="0">
              <a:latin typeface="Century Gothic" panose="020B0502020202020204" pitchFamily="34" charset="0"/>
            </a:rPr>
            <a:t>Pour décideurs et ONG : </a:t>
          </a:r>
          <a:endParaRPr lang="en-US" sz="2000" dirty="0">
            <a:latin typeface="Century Gothic" panose="020B0502020202020204" pitchFamily="34" charset="0"/>
          </a:endParaRPr>
        </a:p>
      </dgm:t>
    </dgm:pt>
    <dgm:pt modelId="{7F67CA31-7E2F-4578-B6C4-DFF3D72D080F}" type="parTrans" cxnId="{87D5CC45-DF54-4B45-B1F7-7EFB179AFF9A}">
      <dgm:prSet/>
      <dgm:spPr/>
      <dgm:t>
        <a:bodyPr/>
        <a:lstStyle/>
        <a:p>
          <a:endParaRPr lang="en-US"/>
        </a:p>
      </dgm:t>
    </dgm:pt>
    <dgm:pt modelId="{3A2FB32D-E8EA-466A-ABC9-AE843C61B8D5}" type="sibTrans" cxnId="{87D5CC45-DF54-4B45-B1F7-7EFB179AFF9A}">
      <dgm:prSet/>
      <dgm:spPr/>
      <dgm:t>
        <a:bodyPr/>
        <a:lstStyle/>
        <a:p>
          <a:endParaRPr lang="en-US"/>
        </a:p>
      </dgm:t>
    </dgm:pt>
    <dgm:pt modelId="{6D70BC54-0C45-46A6-A2F4-173410F1CD8C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dirty="0" smtClean="0">
              <a:latin typeface="Century Gothic" panose="020B0502020202020204" pitchFamily="34" charset="0"/>
            </a:rPr>
            <a:t>outil d’alerte et planification proactive des interventions ; </a:t>
          </a:r>
          <a:endParaRPr lang="en-US" sz="1800" dirty="0">
            <a:latin typeface="Century Gothic" panose="020B0502020202020204" pitchFamily="34" charset="0"/>
          </a:endParaRPr>
        </a:p>
      </dgm:t>
    </dgm:pt>
    <dgm:pt modelId="{69088F28-1872-491A-94B7-1F538B3781FF}" type="parTrans" cxnId="{784CA28E-9E1E-4869-A687-B5E28510C429}">
      <dgm:prSet/>
      <dgm:spPr/>
      <dgm:t>
        <a:bodyPr/>
        <a:lstStyle/>
        <a:p>
          <a:endParaRPr lang="en-US"/>
        </a:p>
      </dgm:t>
    </dgm:pt>
    <dgm:pt modelId="{856BBC03-BD90-4E79-8CF6-C8E2E50506C4}" type="sibTrans" cxnId="{784CA28E-9E1E-4869-A687-B5E28510C429}">
      <dgm:prSet/>
      <dgm:spPr/>
      <dgm:t>
        <a:bodyPr/>
        <a:lstStyle/>
        <a:p>
          <a:endParaRPr lang="en-US"/>
        </a:p>
      </dgm:t>
    </dgm:pt>
    <dgm:pt modelId="{289BBCA9-F634-47CE-A0B3-2A574E7EBF77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z="1800" smtClean="0">
              <a:latin typeface="Century Gothic" panose="020B0502020202020204" pitchFamily="34" charset="0"/>
            </a:rPr>
            <a:t>meilleure gestion des risques climatiques.</a:t>
          </a:r>
          <a:endParaRPr lang="en-US" sz="1800">
            <a:latin typeface="Century Gothic" panose="020B0502020202020204" pitchFamily="34" charset="0"/>
          </a:endParaRPr>
        </a:p>
      </dgm:t>
    </dgm:pt>
    <dgm:pt modelId="{C78C8135-7CF4-45DB-8B85-F275C8FD3367}" type="parTrans" cxnId="{6E825ECE-4DF8-43E0-A100-40282760E8CE}">
      <dgm:prSet/>
      <dgm:spPr/>
      <dgm:t>
        <a:bodyPr/>
        <a:lstStyle/>
        <a:p>
          <a:endParaRPr lang="en-US"/>
        </a:p>
      </dgm:t>
    </dgm:pt>
    <dgm:pt modelId="{3EDE55EA-84E5-4607-9C76-214F845619F3}" type="sibTrans" cxnId="{6E825ECE-4DF8-43E0-A100-40282760E8CE}">
      <dgm:prSet/>
      <dgm:spPr/>
      <dgm:t>
        <a:bodyPr/>
        <a:lstStyle/>
        <a:p>
          <a:endParaRPr lang="en-US"/>
        </a:p>
      </dgm:t>
    </dgm:pt>
    <dgm:pt modelId="{210DF487-AD39-4B1E-B86B-75242B383673}" type="pres">
      <dgm:prSet presAssocID="{1D14BAD1-D6D7-4F06-8716-107608F735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BFFF4D-1F07-4B04-947D-4D5B6186D258}" type="pres">
      <dgm:prSet presAssocID="{947EEE5C-510D-4090-8ECE-42BCF0C1072D}" presName="linNode" presStyleCnt="0"/>
      <dgm:spPr/>
    </dgm:pt>
    <dgm:pt modelId="{5F7A6F68-CF8E-4FF2-87DC-5C42B2024CC1}" type="pres">
      <dgm:prSet presAssocID="{947EEE5C-510D-4090-8ECE-42BCF0C1072D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06C5EC-21C1-4B3E-910C-D4A89823E5E5}" type="pres">
      <dgm:prSet presAssocID="{947EEE5C-510D-4090-8ECE-42BCF0C1072D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E825ECE-4DF8-43E0-A100-40282760E8CE}" srcId="{947EEE5C-510D-4090-8ECE-42BCF0C1072D}" destId="{289BBCA9-F634-47CE-A0B3-2A574E7EBF77}" srcOrd="1" destOrd="0" parTransId="{C78C8135-7CF4-45DB-8B85-F275C8FD3367}" sibTransId="{3EDE55EA-84E5-4607-9C76-214F845619F3}"/>
    <dgm:cxn modelId="{CB537A6D-119F-49C2-94EE-959CFAEE7966}" type="presOf" srcId="{289BBCA9-F634-47CE-A0B3-2A574E7EBF77}" destId="{5C06C5EC-21C1-4B3E-910C-D4A89823E5E5}" srcOrd="0" destOrd="1" presId="urn:microsoft.com/office/officeart/2005/8/layout/vList5"/>
    <dgm:cxn modelId="{5440EA1F-E432-437E-9C86-55A27F5CC9C0}" type="presOf" srcId="{947EEE5C-510D-4090-8ECE-42BCF0C1072D}" destId="{5F7A6F68-CF8E-4FF2-87DC-5C42B2024CC1}" srcOrd="0" destOrd="0" presId="urn:microsoft.com/office/officeart/2005/8/layout/vList5"/>
    <dgm:cxn modelId="{87D5CC45-DF54-4B45-B1F7-7EFB179AFF9A}" srcId="{1D14BAD1-D6D7-4F06-8716-107608F73546}" destId="{947EEE5C-510D-4090-8ECE-42BCF0C1072D}" srcOrd="0" destOrd="0" parTransId="{7F67CA31-7E2F-4578-B6C4-DFF3D72D080F}" sibTransId="{3A2FB32D-E8EA-466A-ABC9-AE843C61B8D5}"/>
    <dgm:cxn modelId="{784CA28E-9E1E-4869-A687-B5E28510C429}" srcId="{947EEE5C-510D-4090-8ECE-42BCF0C1072D}" destId="{6D70BC54-0C45-46A6-A2F4-173410F1CD8C}" srcOrd="0" destOrd="0" parTransId="{69088F28-1872-491A-94B7-1F538B3781FF}" sibTransId="{856BBC03-BD90-4E79-8CF6-C8E2E50506C4}"/>
    <dgm:cxn modelId="{6DC88A86-ECB8-49C0-B240-4173C19EC65B}" type="presOf" srcId="{1D14BAD1-D6D7-4F06-8716-107608F73546}" destId="{210DF487-AD39-4B1E-B86B-75242B383673}" srcOrd="0" destOrd="0" presId="urn:microsoft.com/office/officeart/2005/8/layout/vList5"/>
    <dgm:cxn modelId="{4F3A8C54-07A2-448C-BA4C-2608A712DE7A}" type="presOf" srcId="{6D70BC54-0C45-46A6-A2F4-173410F1CD8C}" destId="{5C06C5EC-21C1-4B3E-910C-D4A89823E5E5}" srcOrd="0" destOrd="0" presId="urn:microsoft.com/office/officeart/2005/8/layout/vList5"/>
    <dgm:cxn modelId="{D970909E-2CC6-4424-A224-8F7FE86B7F3D}" type="presParOf" srcId="{210DF487-AD39-4B1E-B86B-75242B383673}" destId="{ECBFFF4D-1F07-4B04-947D-4D5B6186D258}" srcOrd="0" destOrd="0" presId="urn:microsoft.com/office/officeart/2005/8/layout/vList5"/>
    <dgm:cxn modelId="{07B7AF99-59B4-41CF-8F1B-8A7EA3DDE8FF}" type="presParOf" srcId="{ECBFFF4D-1F07-4B04-947D-4D5B6186D258}" destId="{5F7A6F68-CF8E-4FF2-87DC-5C42B2024CC1}" srcOrd="0" destOrd="0" presId="urn:microsoft.com/office/officeart/2005/8/layout/vList5"/>
    <dgm:cxn modelId="{1B05B620-9E9E-4802-BEAA-B84C99F1E398}" type="presParOf" srcId="{ECBFFF4D-1F07-4B04-947D-4D5B6186D258}" destId="{5C06C5EC-21C1-4B3E-910C-D4A89823E5E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D69D17-E39B-45B9-89A0-39EC4E0798E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FA18B-AC6B-42DB-A065-9E76B6FD9042}">
      <dgm:prSet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sz="2000" b="1" dirty="0" smtClean="0">
              <a:latin typeface="Century Gothic" panose="020B0502020202020204" pitchFamily="34" charset="0"/>
            </a:rPr>
            <a:t>Pour la communauté scientifique : </a:t>
          </a:r>
          <a:endParaRPr lang="en-US" sz="2000" dirty="0">
            <a:latin typeface="Century Gothic" panose="020B0502020202020204" pitchFamily="34" charset="0"/>
          </a:endParaRPr>
        </a:p>
      </dgm:t>
    </dgm:pt>
    <dgm:pt modelId="{5D36D8F6-8BDF-4D88-9ED8-583466C4A280}" type="parTrans" cxnId="{7208F639-EFF1-446A-8DB6-5567EDF90204}">
      <dgm:prSet/>
      <dgm:spPr/>
      <dgm:t>
        <a:bodyPr/>
        <a:lstStyle/>
        <a:p>
          <a:endParaRPr lang="en-US"/>
        </a:p>
      </dgm:t>
    </dgm:pt>
    <dgm:pt modelId="{A107E8C2-F8B9-40BD-B354-916CCBBB4EE6}" type="sibTrans" cxnId="{7208F639-EFF1-446A-8DB6-5567EDF90204}">
      <dgm:prSet/>
      <dgm:spPr/>
      <dgm:t>
        <a:bodyPr/>
        <a:lstStyle/>
        <a:p>
          <a:endParaRPr lang="en-US"/>
        </a:p>
      </dgm:t>
    </dgm:pt>
    <dgm:pt modelId="{2B76B42D-760B-41B3-88B2-B9045C6C9AA2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dirty="0" smtClean="0">
              <a:latin typeface="Century Gothic" panose="020B0502020202020204" pitchFamily="34" charset="0"/>
            </a:rPr>
            <a:t>prototype expérimental africain ; </a:t>
          </a:r>
          <a:endParaRPr lang="en-US" dirty="0">
            <a:latin typeface="Century Gothic" panose="020B0502020202020204" pitchFamily="34" charset="0"/>
          </a:endParaRPr>
        </a:p>
      </dgm:t>
    </dgm:pt>
    <dgm:pt modelId="{0AEF0A7A-BEEB-4D21-A735-C9F137507273}" type="parTrans" cxnId="{18E52522-8059-4855-8AAB-D2B24433A8AA}">
      <dgm:prSet/>
      <dgm:spPr/>
      <dgm:t>
        <a:bodyPr/>
        <a:lstStyle/>
        <a:p>
          <a:endParaRPr lang="en-US"/>
        </a:p>
      </dgm:t>
    </dgm:pt>
    <dgm:pt modelId="{5A755987-D19B-4688-B5CD-E9AF3AA5EF08}" type="sibTrans" cxnId="{18E52522-8059-4855-8AAB-D2B24433A8AA}">
      <dgm:prSet/>
      <dgm:spPr/>
      <dgm:t>
        <a:bodyPr/>
        <a:lstStyle/>
        <a:p>
          <a:endParaRPr lang="en-US"/>
        </a:p>
      </dgm:t>
    </dgm:pt>
    <dgm:pt modelId="{0538D29A-12EB-4D68-A329-D19E68EC24F7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dirty="0" smtClean="0">
              <a:latin typeface="Century Gothic" panose="020B0502020202020204" pitchFamily="34" charset="0"/>
            </a:rPr>
            <a:t>données locales pour modèles fiables ; </a:t>
          </a:r>
          <a:endParaRPr lang="en-US" dirty="0">
            <a:latin typeface="Century Gothic" panose="020B0502020202020204" pitchFamily="34" charset="0"/>
          </a:endParaRPr>
        </a:p>
      </dgm:t>
    </dgm:pt>
    <dgm:pt modelId="{A0148819-F759-4FBC-869C-0705135462D6}" type="parTrans" cxnId="{7C37041F-35CA-439F-AC5B-A4A598597B56}">
      <dgm:prSet/>
      <dgm:spPr/>
      <dgm:t>
        <a:bodyPr/>
        <a:lstStyle/>
        <a:p>
          <a:endParaRPr lang="en-US"/>
        </a:p>
      </dgm:t>
    </dgm:pt>
    <dgm:pt modelId="{9A9B0A1F-03DE-4682-AC12-199EE79773E1}" type="sibTrans" cxnId="{7C37041F-35CA-439F-AC5B-A4A598597B56}">
      <dgm:prSet/>
      <dgm:spPr/>
      <dgm:t>
        <a:bodyPr/>
        <a:lstStyle/>
        <a:p>
          <a:endParaRPr lang="en-US"/>
        </a:p>
      </dgm:t>
    </dgm:pt>
    <dgm:pt modelId="{FB63785C-539E-4584-8585-A4D5FE7D513C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smtClean="0">
              <a:latin typeface="Century Gothic" panose="020B0502020202020204" pitchFamily="34" charset="0"/>
            </a:rPr>
            <a:t>réflexion interdisciplinaire sur gouvernance et éthique.</a:t>
          </a:r>
          <a:endParaRPr lang="en-US">
            <a:latin typeface="Century Gothic" panose="020B0502020202020204" pitchFamily="34" charset="0"/>
          </a:endParaRPr>
        </a:p>
      </dgm:t>
    </dgm:pt>
    <dgm:pt modelId="{60A38B5A-A09E-4978-ACAC-30964254E018}" type="parTrans" cxnId="{B54F66A6-6714-4B89-B7E0-C421BCC86C60}">
      <dgm:prSet/>
      <dgm:spPr/>
      <dgm:t>
        <a:bodyPr/>
        <a:lstStyle/>
        <a:p>
          <a:endParaRPr lang="en-US"/>
        </a:p>
      </dgm:t>
    </dgm:pt>
    <dgm:pt modelId="{4736F8CD-B2E9-43D9-9A6F-47554B4DD64A}" type="sibTrans" cxnId="{B54F66A6-6714-4B89-B7E0-C421BCC86C60}">
      <dgm:prSet/>
      <dgm:spPr/>
      <dgm:t>
        <a:bodyPr/>
        <a:lstStyle/>
        <a:p>
          <a:endParaRPr lang="en-US"/>
        </a:p>
      </dgm:t>
    </dgm:pt>
    <dgm:pt modelId="{371DA938-122D-425A-849E-244F1F366ED8}" type="pres">
      <dgm:prSet presAssocID="{37D69D17-E39B-45B9-89A0-39EC4E0798E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64FCD37-C5C9-4E37-9A7B-714CE10488F3}" type="pres">
      <dgm:prSet presAssocID="{53FFA18B-AC6B-42DB-A065-9E76B6FD9042}" presName="linNode" presStyleCnt="0"/>
      <dgm:spPr/>
    </dgm:pt>
    <dgm:pt modelId="{DFE9E02C-5FDE-4310-90D8-29BA727D06E9}" type="pres">
      <dgm:prSet presAssocID="{53FFA18B-AC6B-42DB-A065-9E76B6FD9042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F535D5-03E5-43C5-80F4-633268B83182}" type="pres">
      <dgm:prSet presAssocID="{53FFA18B-AC6B-42DB-A065-9E76B6FD9042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08F639-EFF1-446A-8DB6-5567EDF90204}" srcId="{37D69D17-E39B-45B9-89A0-39EC4E0798E9}" destId="{53FFA18B-AC6B-42DB-A065-9E76B6FD9042}" srcOrd="0" destOrd="0" parTransId="{5D36D8F6-8BDF-4D88-9ED8-583466C4A280}" sibTransId="{A107E8C2-F8B9-40BD-B354-916CCBBB4EE6}"/>
    <dgm:cxn modelId="{B54F66A6-6714-4B89-B7E0-C421BCC86C60}" srcId="{53FFA18B-AC6B-42DB-A065-9E76B6FD9042}" destId="{FB63785C-539E-4584-8585-A4D5FE7D513C}" srcOrd="2" destOrd="0" parTransId="{60A38B5A-A09E-4978-ACAC-30964254E018}" sibTransId="{4736F8CD-B2E9-43D9-9A6F-47554B4DD64A}"/>
    <dgm:cxn modelId="{B25D886A-481E-4BC5-80A9-DA145DB505CB}" type="presOf" srcId="{FB63785C-539E-4584-8585-A4D5FE7D513C}" destId="{10F535D5-03E5-43C5-80F4-633268B83182}" srcOrd="0" destOrd="2" presId="urn:microsoft.com/office/officeart/2005/8/layout/vList5"/>
    <dgm:cxn modelId="{7C37041F-35CA-439F-AC5B-A4A598597B56}" srcId="{53FFA18B-AC6B-42DB-A065-9E76B6FD9042}" destId="{0538D29A-12EB-4D68-A329-D19E68EC24F7}" srcOrd="1" destOrd="0" parTransId="{A0148819-F759-4FBC-869C-0705135462D6}" sibTransId="{9A9B0A1F-03DE-4682-AC12-199EE79773E1}"/>
    <dgm:cxn modelId="{B29910A1-C321-4566-9022-5A1A898DC7FE}" type="presOf" srcId="{0538D29A-12EB-4D68-A329-D19E68EC24F7}" destId="{10F535D5-03E5-43C5-80F4-633268B83182}" srcOrd="0" destOrd="1" presId="urn:microsoft.com/office/officeart/2005/8/layout/vList5"/>
    <dgm:cxn modelId="{18E52522-8059-4855-8AAB-D2B24433A8AA}" srcId="{53FFA18B-AC6B-42DB-A065-9E76B6FD9042}" destId="{2B76B42D-760B-41B3-88B2-B9045C6C9AA2}" srcOrd="0" destOrd="0" parTransId="{0AEF0A7A-BEEB-4D21-A735-C9F137507273}" sibTransId="{5A755987-D19B-4688-B5CD-E9AF3AA5EF08}"/>
    <dgm:cxn modelId="{8336FD66-C0A0-4E4D-B3A5-A2CC78AA7665}" type="presOf" srcId="{2B76B42D-760B-41B3-88B2-B9045C6C9AA2}" destId="{10F535D5-03E5-43C5-80F4-633268B83182}" srcOrd="0" destOrd="0" presId="urn:microsoft.com/office/officeart/2005/8/layout/vList5"/>
    <dgm:cxn modelId="{FB7AA8C0-10E1-41C4-8A13-E612E5F90D75}" type="presOf" srcId="{37D69D17-E39B-45B9-89A0-39EC4E0798E9}" destId="{371DA938-122D-425A-849E-244F1F366ED8}" srcOrd="0" destOrd="0" presId="urn:microsoft.com/office/officeart/2005/8/layout/vList5"/>
    <dgm:cxn modelId="{A5C73550-BD1C-46D5-8174-361E05781F9E}" type="presOf" srcId="{53FFA18B-AC6B-42DB-A065-9E76B6FD9042}" destId="{DFE9E02C-5FDE-4310-90D8-29BA727D06E9}" srcOrd="0" destOrd="0" presId="urn:microsoft.com/office/officeart/2005/8/layout/vList5"/>
    <dgm:cxn modelId="{CD4E0150-6A4C-4CDA-B237-2C6A25B8437A}" type="presParOf" srcId="{371DA938-122D-425A-849E-244F1F366ED8}" destId="{764FCD37-C5C9-4E37-9A7B-714CE10488F3}" srcOrd="0" destOrd="0" presId="urn:microsoft.com/office/officeart/2005/8/layout/vList5"/>
    <dgm:cxn modelId="{44428A46-EF93-4CFE-B52E-1A71CEA324AD}" type="presParOf" srcId="{764FCD37-C5C9-4E37-9A7B-714CE10488F3}" destId="{DFE9E02C-5FDE-4310-90D8-29BA727D06E9}" srcOrd="0" destOrd="0" presId="urn:microsoft.com/office/officeart/2005/8/layout/vList5"/>
    <dgm:cxn modelId="{12C26A5C-1DF2-460F-82AC-E27F77431669}" type="presParOf" srcId="{764FCD37-C5C9-4E37-9A7B-714CE10488F3}" destId="{10F535D5-03E5-43C5-80F4-633268B8318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0109B-86F5-4252-A920-FACCA8C3A3A8}">
      <dsp:nvSpPr>
        <dsp:cNvPr id="0" name=""/>
        <dsp:cNvSpPr/>
      </dsp:nvSpPr>
      <dsp:spPr>
        <a:xfrm rot="5400000">
          <a:off x="5957076" y="-2161933"/>
          <a:ext cx="1653285" cy="6392494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>
              <a:latin typeface="Century Gothic" panose="020B0502020202020204" pitchFamily="34" charset="0"/>
            </a:rPr>
            <a:t>prévisions adaptées pour semis, 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>
              <a:latin typeface="Century Gothic" panose="020B0502020202020204" pitchFamily="34" charset="0"/>
            </a:rPr>
            <a:t>irrigation, 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>
              <a:latin typeface="Century Gothic" panose="020B0502020202020204" pitchFamily="34" charset="0"/>
            </a:rPr>
            <a:t>récoltes ; </a:t>
          </a:r>
          <a:endParaRPr lang="en-US" sz="1800" kern="120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>
              <a:latin typeface="Century Gothic" panose="020B0502020202020204" pitchFamily="34" charset="0"/>
            </a:rPr>
            <a:t>optimisation des cultures selon climat et type de sol ; </a:t>
          </a:r>
          <a:endParaRPr lang="en-US" sz="1800" kern="120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>
              <a:latin typeface="Century Gothic" panose="020B0502020202020204" pitchFamily="34" charset="0"/>
            </a:rPr>
            <a:t>développement de l’agriculture hors saison.</a:t>
          </a:r>
          <a:endParaRPr lang="en-US" sz="1800" kern="1200">
            <a:latin typeface="Century Gothic" panose="020B0502020202020204" pitchFamily="34" charset="0"/>
          </a:endParaRPr>
        </a:p>
      </dsp:txBody>
      <dsp:txXfrm rot="-5400000">
        <a:off x="3587472" y="288378"/>
        <a:ext cx="6311787" cy="1491871"/>
      </dsp:txXfrm>
    </dsp:sp>
    <dsp:sp modelId="{D8AF5A60-A7D0-4D8D-8E1C-24AD8B9AE0D8}">
      <dsp:nvSpPr>
        <dsp:cNvPr id="0" name=""/>
        <dsp:cNvSpPr/>
      </dsp:nvSpPr>
      <dsp:spPr>
        <a:xfrm>
          <a:off x="8306" y="435772"/>
          <a:ext cx="3579165" cy="1197082"/>
        </a:xfrm>
        <a:prstGeom prst="round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latin typeface="Century Gothic" panose="020B0502020202020204" pitchFamily="34" charset="0"/>
            </a:rPr>
            <a:t>Pour les agriculteurs </a:t>
          </a:r>
          <a:r>
            <a:rPr lang="fr-FR" sz="2000" kern="1200" dirty="0" smtClean="0">
              <a:latin typeface="Century Gothic" panose="020B0502020202020204" pitchFamily="34" charset="0"/>
            </a:rPr>
            <a:t>: </a:t>
          </a:r>
          <a:endParaRPr lang="en-US" sz="2000" kern="1200" dirty="0">
            <a:latin typeface="Century Gothic" panose="020B0502020202020204" pitchFamily="34" charset="0"/>
          </a:endParaRPr>
        </a:p>
      </dsp:txBody>
      <dsp:txXfrm>
        <a:off x="66743" y="494209"/>
        <a:ext cx="3462291" cy="10802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6C5EC-21C1-4B3E-910C-D4A89823E5E5}">
      <dsp:nvSpPr>
        <dsp:cNvPr id="0" name=""/>
        <dsp:cNvSpPr/>
      </dsp:nvSpPr>
      <dsp:spPr>
        <a:xfrm rot="5400000">
          <a:off x="6312362" y="-2596082"/>
          <a:ext cx="959325" cy="6392494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>
              <a:latin typeface="Century Gothic" panose="020B0502020202020204" pitchFamily="34" charset="0"/>
            </a:rPr>
            <a:t>outil d’alerte et planification proactive des interventions ; 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>
              <a:latin typeface="Century Gothic" panose="020B0502020202020204" pitchFamily="34" charset="0"/>
            </a:rPr>
            <a:t>meilleure gestion des risques climatiques.</a:t>
          </a:r>
          <a:endParaRPr lang="en-US" sz="1800" kern="1200">
            <a:latin typeface="Century Gothic" panose="020B0502020202020204" pitchFamily="34" charset="0"/>
          </a:endParaRPr>
        </a:p>
      </dsp:txBody>
      <dsp:txXfrm rot="-5400000">
        <a:off x="3595778" y="167332"/>
        <a:ext cx="6345664" cy="865665"/>
      </dsp:txXfrm>
    </dsp:sp>
    <dsp:sp modelId="{5F7A6F68-CF8E-4FF2-87DC-5C42B2024CC1}">
      <dsp:nvSpPr>
        <dsp:cNvPr id="0" name=""/>
        <dsp:cNvSpPr/>
      </dsp:nvSpPr>
      <dsp:spPr>
        <a:xfrm>
          <a:off x="0" y="586"/>
          <a:ext cx="3595778" cy="1199156"/>
        </a:xfrm>
        <a:prstGeom prst="round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latin typeface="Century Gothic" panose="020B0502020202020204" pitchFamily="34" charset="0"/>
            </a:rPr>
            <a:t>Pour décideurs et ONG : </a:t>
          </a:r>
          <a:endParaRPr lang="en-US" sz="2000" kern="1200" dirty="0">
            <a:latin typeface="Century Gothic" panose="020B0502020202020204" pitchFamily="34" charset="0"/>
          </a:endParaRPr>
        </a:p>
      </dsp:txBody>
      <dsp:txXfrm>
        <a:off x="58538" y="59124"/>
        <a:ext cx="3478702" cy="1082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535D5-03E5-43C5-80F4-633268B83182}">
      <dsp:nvSpPr>
        <dsp:cNvPr id="0" name=""/>
        <dsp:cNvSpPr/>
      </dsp:nvSpPr>
      <dsp:spPr>
        <a:xfrm rot="5400000">
          <a:off x="6201094" y="-2457583"/>
          <a:ext cx="1181862" cy="6392494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>
              <a:latin typeface="Century Gothic" panose="020B0502020202020204" pitchFamily="34" charset="0"/>
            </a:rPr>
            <a:t>prototype expérimental africain ; 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dirty="0" smtClean="0">
              <a:latin typeface="Century Gothic" panose="020B0502020202020204" pitchFamily="34" charset="0"/>
            </a:rPr>
            <a:t>données locales pour modèles fiables ; </a:t>
          </a:r>
          <a:endParaRPr lang="en-US" sz="1800" kern="1200" dirty="0">
            <a:latin typeface="Century Gothic" panose="020B0502020202020204" pitchFamily="34" charset="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 smtClean="0">
              <a:latin typeface="Century Gothic" panose="020B0502020202020204" pitchFamily="34" charset="0"/>
            </a:rPr>
            <a:t>réflexion interdisciplinaire sur gouvernance et éthique.</a:t>
          </a:r>
          <a:endParaRPr lang="en-US" sz="1800" kern="1200">
            <a:latin typeface="Century Gothic" panose="020B0502020202020204" pitchFamily="34" charset="0"/>
          </a:endParaRPr>
        </a:p>
      </dsp:txBody>
      <dsp:txXfrm rot="-5400000">
        <a:off x="3595778" y="205427"/>
        <a:ext cx="6334800" cy="1066474"/>
      </dsp:txXfrm>
    </dsp:sp>
    <dsp:sp modelId="{DFE9E02C-5FDE-4310-90D8-29BA727D06E9}">
      <dsp:nvSpPr>
        <dsp:cNvPr id="0" name=""/>
        <dsp:cNvSpPr/>
      </dsp:nvSpPr>
      <dsp:spPr>
        <a:xfrm>
          <a:off x="0" y="0"/>
          <a:ext cx="3595778" cy="1477328"/>
        </a:xfrm>
        <a:prstGeom prst="round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latin typeface="Century Gothic" panose="020B0502020202020204" pitchFamily="34" charset="0"/>
            </a:rPr>
            <a:t>Pour la communauté scientifique : </a:t>
          </a:r>
          <a:endParaRPr lang="en-US" sz="2000" kern="1200" dirty="0">
            <a:latin typeface="Century Gothic" panose="020B0502020202020204" pitchFamily="34" charset="0"/>
          </a:endParaRPr>
        </a:p>
      </dsp:txBody>
      <dsp:txXfrm>
        <a:off x="72117" y="72117"/>
        <a:ext cx="3451544" cy="1333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ADB53-7C58-4F78-A0F1-27B4D65D98D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BB4D3-D601-41B6-BDA7-042F4CB81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4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Bonjour à toutes et à tous.</a:t>
            </a:r>
            <a:br>
              <a:rPr lang="fr-FR" dirty="0" smtClean="0"/>
            </a:br>
            <a:r>
              <a:rPr lang="fr-FR" dirty="0" smtClean="0"/>
              <a:t>Je vous remercie pour votre présence ainsi que pour l’opportunité de partager avec vous cette réflexion sur l’usage de l’intelligence artificielle au service de la résilience climatique en Afrique.</a:t>
            </a:r>
            <a:br>
              <a:rPr lang="fr-FR" dirty="0" smtClean="0"/>
            </a:br>
            <a:r>
              <a:rPr lang="fr-FR" dirty="0" smtClean="0"/>
              <a:t>Je vais illustrer ce propos à travers un cas concret développé au Bénin : le projet </a:t>
            </a:r>
            <a:r>
              <a:rPr lang="fr-FR" dirty="0" err="1" smtClean="0"/>
              <a:t>AgroClimat</a:t>
            </a:r>
            <a:r>
              <a:rPr lang="fr-FR" dirty="0" smtClean="0"/>
              <a:t>, que je porte avec mon 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1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structurer mon intervention, je vous propose ce plan que nous allons parcourir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Pour commencer, posons brièvement le contexte général dans lequel s’inscrit notre réflexion.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30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Maintenant que le cadre est posé, regardons de plus près ce à quoi l’Afrique est réellement confrontée sur le plan climatique.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Face à ces réalités, une question s’impose : que peut apporter concrètement l’intelligence artificielle dans cette lutte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40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passer du théorique au concret, je vais maintenant vous présenter un projet que nous développons : </a:t>
            </a:r>
            <a:r>
              <a:rPr lang="fr-FR" dirty="0" err="1" smtClean="0"/>
              <a:t>AgroClimat</a:t>
            </a:r>
            <a:r>
              <a:rPr lang="fr-F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7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Après la phase de conception, nous avons dû affronter la question centrale : comment obtenir des données locales fiables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39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À partir de cette base technique, regardons maintenant quels bénéfices concrets </a:t>
            </a:r>
            <a:r>
              <a:rPr lang="fr-FR" dirty="0" err="1" smtClean="0"/>
              <a:t>AgroClimat</a:t>
            </a:r>
            <a:r>
              <a:rPr lang="fr-FR" dirty="0" smtClean="0"/>
              <a:t> permettra de générer pour les différents acteurs.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2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Même en phase pilote, le projet a déjà suscité de l’intérêt et ouvre des perspectives d’extension.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91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Mais pour qu’un tel projet soit durable, il doit être pensé au-delà du seul angle technique. C’est ce que montre une lecture pluridisciplinaire.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47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que ces innovations soient pérennes, il faut aussi réfléchir à une structuration continentale et à des cadres communs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6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Pour conclure, revenons à l’essentiel et tirons les leçons générales de cette expérience.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98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Je vous remercie pour votre attention. Je suis ouvert à vos questions, remarques ou contributions.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3BB4D3-D601-41B6-BDA7-042F4CB81E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1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3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2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4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2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7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9295-8E1F-4EC0-A84B-3624621FBD2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2E90-A53F-41EC-8C02-A167DB0A4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/>
          <a:stretch/>
        </p:blipFill>
        <p:spPr>
          <a:xfrm>
            <a:off x="2209798" y="0"/>
            <a:ext cx="998220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686" y="0"/>
            <a:ext cx="4558314" cy="1090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2209800" cy="13919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60118" y="1479576"/>
            <a:ext cx="45093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latin typeface="Century Gothic" panose="020B0502020202020204" pitchFamily="34" charset="0"/>
              </a:rPr>
              <a:t>L’INTELLIGENCE ARTIFICIELLE ET L’AFRIQUE : REGARDS CROISÉS DES JURISTES, POLITOLOGUES, ÉCONOMISTES ET SOCIOLOGUES 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58791" y="95547"/>
            <a:ext cx="4260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entury Gothic" panose="020B0502020202020204" pitchFamily="34" charset="0"/>
              </a:rPr>
              <a:t>COLLOQUE INTERNATIONAL 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9799" y="4903862"/>
            <a:ext cx="69201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lang="fr-FR" b="1" dirty="0" smtClean="0"/>
              <a:t>Pacôme SODAZINDJI</a:t>
            </a:r>
          </a:p>
          <a:p>
            <a:pPr algn="just">
              <a:defRPr sz="1800"/>
            </a:pPr>
            <a:r>
              <a:rPr lang="fr-FR" dirty="0" smtClean="0"/>
              <a:t>Spécialiste IT, Data et IA – Responsable SI chez GDB &amp; ASSOCIES</a:t>
            </a:r>
            <a:endParaRPr lang="fr-FR" dirty="0"/>
          </a:p>
          <a:p>
            <a:pPr algn="just">
              <a:defRPr sz="1800"/>
            </a:pPr>
            <a:r>
              <a:rPr lang="fr-FR" dirty="0" smtClean="0"/>
              <a:t>Double Lauréat </a:t>
            </a:r>
            <a:r>
              <a:rPr lang="fr-FR" dirty="0"/>
              <a:t>DSI Awards 2024 – Catégorie Data Science &amp; </a:t>
            </a:r>
            <a:r>
              <a:rPr lang="fr-FR" dirty="0" smtClean="0"/>
              <a:t>Agriculture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2209798" y="2814715"/>
            <a:ext cx="57150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 smtClean="0">
                <a:latin typeface="Century Gothic" panose="020B0502020202020204" pitchFamily="34" charset="0"/>
              </a:rPr>
              <a:t>Titre de la présentation </a:t>
            </a:r>
          </a:p>
          <a:p>
            <a:pPr algn="ctr"/>
            <a:endParaRPr lang="fr-FR" dirty="0" smtClean="0">
              <a:latin typeface="Century Gothic" panose="020B0502020202020204" pitchFamily="34" charset="0"/>
            </a:endParaRP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« L’intelligence artificielle au service de la résilience climatique en Afrique : anticiper les phénomènes naturels pour protéger les populations, les infrastructures et l’agriculture </a:t>
            </a:r>
            <a:r>
              <a:rPr lang="fr-FR" dirty="0" smtClean="0">
                <a:latin typeface="Century Gothic" panose="020B0502020202020204" pitchFamily="34" charset="0"/>
              </a:rPr>
              <a:t>»</a:t>
            </a:r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70389" y="865637"/>
            <a:ext cx="3288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latin typeface="Century Gothic" panose="020B0502020202020204" pitchFamily="34" charset="0"/>
              </a:rPr>
              <a:t>Thème</a:t>
            </a:r>
            <a:r>
              <a:rPr lang="en-US" sz="2400" b="1" dirty="0" smtClean="0">
                <a:latin typeface="Century Gothic" panose="020B0502020202020204" pitchFamily="34" charset="0"/>
              </a:rPr>
              <a:t> du </a:t>
            </a:r>
            <a:r>
              <a:rPr lang="en-US" sz="2400" b="1" dirty="0" err="1" smtClean="0">
                <a:latin typeface="Century Gothic" panose="020B0502020202020204" pitchFamily="34" charset="0"/>
              </a:rPr>
              <a:t>Colloque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5403" y="5180861"/>
            <a:ext cx="1544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Présenté par :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76552" y="6049717"/>
            <a:ext cx="633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 : 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286547" y="6049717"/>
            <a:ext cx="68433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lang="fr-FR" dirty="0" smtClean="0"/>
              <a:t>23 /10 /2025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863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Freeform 1069"/>
          <p:cNvSpPr/>
          <p:nvPr/>
        </p:nvSpPr>
        <p:spPr>
          <a:xfrm>
            <a:off x="1571659" y="328425"/>
            <a:ext cx="118918" cy="6208382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Freeform 1078"/>
          <p:cNvSpPr/>
          <p:nvPr/>
        </p:nvSpPr>
        <p:spPr>
          <a:xfrm>
            <a:off x="1571659" y="328425"/>
            <a:ext cx="9053427" cy="6209036"/>
          </a:xfrm>
          <a:custGeom>
            <a:avLst/>
            <a:gdLst/>
            <a:ahLst/>
            <a:cxnLst/>
            <a:rect l="0" t="0" r="r" b="b"/>
            <a:pathLst>
              <a:path w="27704" h="19000">
                <a:moveTo>
                  <a:pt x="27704" y="0"/>
                </a:moveTo>
                <a:lnTo>
                  <a:pt x="27704" y="19000"/>
                </a:lnTo>
                <a:lnTo>
                  <a:pt x="0" y="19000"/>
                </a:lnTo>
                <a:lnTo>
                  <a:pt x="0" y="18998"/>
                </a:lnTo>
                <a:lnTo>
                  <a:pt x="27703" y="18998"/>
                </a:lnTo>
                <a:lnTo>
                  <a:pt x="27703" y="0"/>
                </a:lnTo>
                <a:lnTo>
                  <a:pt x="27704" y="0"/>
                </a:lnTo>
                <a:close/>
              </a:path>
            </a:pathLst>
          </a:custGeom>
          <a:solidFill>
            <a:srgbClr val="000000">
              <a:alpha val="5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TextBox 1080"/>
          <p:cNvSpPr txBox="1"/>
          <p:nvPr/>
        </p:nvSpPr>
        <p:spPr>
          <a:xfrm>
            <a:off x="2414201" y="3225905"/>
            <a:ext cx="1518044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51" b="1" dirty="0" err="1">
                <a:solidFill>
                  <a:srgbClr val="145822"/>
                </a:solidFill>
                <a:latin typeface="Orbitron"/>
                <a:ea typeface="Orbitron"/>
              </a:rPr>
              <a:t>Sommaire</a:t>
            </a:r>
            <a:endParaRPr lang="en-US" sz="245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TextBox 1081"/>
          <p:cNvSpPr txBox="1"/>
          <p:nvPr/>
        </p:nvSpPr>
        <p:spPr>
          <a:xfrm>
            <a:off x="5688685" y="1161612"/>
            <a:ext cx="3210815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en-US" altLang="en-US" dirty="0"/>
              <a:t>Introduction </a:t>
            </a:r>
            <a:r>
              <a:rPr lang="en-US" altLang="en-US" dirty="0" err="1"/>
              <a:t>générale</a:t>
            </a:r>
            <a:endParaRPr lang="en-US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731293" y="2183375"/>
            <a:ext cx="5893793" cy="24622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effectLst/>
                <a:latin typeface="Century Gothic" panose="020B0502020202020204" pitchFamily="34" charset="0"/>
              </a:rPr>
              <a:t>L’Afrique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effectLst/>
                <a:latin typeface="Century Gothic" panose="020B0502020202020204" pitchFamily="34" charset="0"/>
              </a:rPr>
              <a:t> à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effectLst/>
                <a:latin typeface="Century Gothic" panose="020B0502020202020204" pitchFamily="34" charset="0"/>
              </a:rPr>
              <a:t>l’épreuve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effectLst/>
                <a:latin typeface="Century Gothic" panose="020B0502020202020204" pitchFamily="34" charset="0"/>
              </a:rPr>
              <a:t> des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effectLst/>
                <a:latin typeface="Century Gothic" panose="020B0502020202020204" pitchFamily="34" charset="0"/>
              </a:rPr>
              <a:t>changements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effectLst/>
                <a:latin typeface="Century Gothic" panose="020B0502020202020204" pitchFamily="34" charset="0"/>
              </a:rPr>
              <a:t>climatiques</a:t>
            </a:r>
            <a:endParaRPr lang="en-US" altLang="en-US" sz="1600" dirty="0">
              <a:latin typeface="Century Gothic" panose="020B0502020202020204" pitchFamily="34" charset="0"/>
            </a:endParaRP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L’intelligence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artificielle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comme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levier de resilience</a:t>
            </a:r>
            <a:endParaRPr lang="en-US" altLang="en-US" sz="1600" dirty="0">
              <a:latin typeface="Century Gothic" panose="020B0502020202020204" pitchFamily="34" charset="0"/>
            </a:endParaRP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Étude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cas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AgroClimat</a:t>
            </a:r>
            <a:endParaRPr lang="en-US" altLang="en-US" sz="1600" dirty="0">
              <a:latin typeface="Century Gothic" panose="020B0502020202020204" pitchFamily="34" charset="0"/>
            </a:endParaRP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Regards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croisés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analyses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pluridisciplinaires</a:t>
            </a:r>
            <a:endParaRPr lang="en-US" altLang="en-US" sz="1600" dirty="0">
              <a:latin typeface="Century Gothic" panose="020B0502020202020204" pitchFamily="34" charset="0"/>
            </a:endParaRP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Vers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un cadre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africain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gouvernance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et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d’innovation</a:t>
            </a: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91456" y="5536668"/>
            <a:ext cx="4084451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en-US" sz="2451" b="1" dirty="0">
                <a:solidFill>
                  <a:srgbClr val="145822"/>
                </a:solidFill>
                <a:latin typeface="Orbitron"/>
                <a:ea typeface="Orbitron"/>
              </a:rPr>
              <a:t>Conclusion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191300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560110"/>
            <a:ext cx="3210815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en-US" altLang="en-US" dirty="0"/>
              <a:t>Introduction </a:t>
            </a:r>
            <a:r>
              <a:rPr lang="en-US" altLang="en-US" dirty="0" err="1"/>
              <a:t>générale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3032540" y="1027223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60110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3453" y="1590116"/>
            <a:ext cx="52916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Mise en contexte : l’Afrique face aux phénomènes climatiques extrêmes</a:t>
            </a:r>
            <a:r>
              <a:rPr lang="fr-FR" dirty="0" smtClean="0">
                <a:latin typeface="Century Gothic" panose="020B0502020202020204" pitchFamily="34" charset="0"/>
              </a:rPr>
              <a:t/>
            </a:r>
            <a:br>
              <a:rPr lang="fr-FR" dirty="0" smtClean="0">
                <a:latin typeface="Century Gothic" panose="020B0502020202020204" pitchFamily="34" charset="0"/>
              </a:rPr>
            </a:br>
            <a:r>
              <a:rPr lang="fr-FR" i="1" dirty="0" smtClean="0">
                <a:latin typeface="Century Gothic" panose="020B0502020202020204" pitchFamily="34" charset="0"/>
              </a:rPr>
              <a:t>L’Afrique connaît de plus en plus d’inondations, sécheresses et vents violents, affectant les populations, l’économie et les infrastructures essentielles.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36" y="1491987"/>
            <a:ext cx="2920303" cy="19505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3453" y="3883827"/>
            <a:ext cx="84919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Problématique : comment l’IA peut renforcer la résilience climatique ?</a:t>
            </a:r>
          </a:p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L’IA aide à anticiper et réduire les impacts des catastrophes naturelles, mais soulève des questions de données et de gouvernance.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3453" y="5150285"/>
            <a:ext cx="84919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Présentation du cas d’étude : AgroClimat</a:t>
            </a:r>
          </a:p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Plateforme béninoise collectant et analysant des données climatiques locales pour soutenir les agriculteurs et décideurs dans la gestion des risques et l’optimisation des rendements.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4"/>
          <a:stretch/>
        </p:blipFill>
        <p:spPr>
          <a:xfrm>
            <a:off x="9325466" y="3442571"/>
            <a:ext cx="2866534" cy="3415429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12"/>
          <p:cNvPicPr/>
          <p:nvPr/>
        </p:nvPicPr>
        <p:blipFill>
          <a:blip r:embed="rId5"/>
          <a:stretch/>
        </p:blipFill>
        <p:spPr>
          <a:xfrm>
            <a:off x="9325466" y="1491986"/>
            <a:ext cx="2866534" cy="185245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2360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175226"/>
            <a:ext cx="6236836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Les phénomènes climatiques en Afrique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7173407" y="621239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175226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3452" y="1771167"/>
            <a:ext cx="70023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Phénomènes principaux : </a:t>
            </a:r>
            <a:r>
              <a:rPr lang="fr-FR" dirty="0" smtClean="0">
                <a:latin typeface="Century Gothic" panose="020B0502020202020204" pitchFamily="34" charset="0"/>
              </a:rPr>
              <a:t>inondations urbaines et périurbaines, sécheresses dans le Sahel, vents violents et tempêtes destructrices.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3451" y="3045505"/>
            <a:ext cx="7002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Impacts sur l’agriculture : </a:t>
            </a:r>
            <a:r>
              <a:rPr lang="fr-FR" dirty="0" smtClean="0">
                <a:latin typeface="Century Gothic" panose="020B0502020202020204" pitchFamily="34" charset="0"/>
              </a:rPr>
              <a:t>perte de récoltes, dégradation des sols et réduction de fertilité, insécurité alimentaire chronique.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3451" y="4226955"/>
            <a:ext cx="70023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Conséquences sociales </a:t>
            </a:r>
            <a:r>
              <a:rPr lang="fr-FR" dirty="0" smtClean="0">
                <a:latin typeface="Century Gothic" panose="020B0502020202020204" pitchFamily="34" charset="0"/>
              </a:rPr>
              <a:t>: accès limité aux soins et à l’éducation, perturbation des marchés et des activités économiques.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6555" y="5685404"/>
            <a:ext cx="69392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latin typeface="Century Gothic" panose="020B0502020202020204" pitchFamily="34" charset="0"/>
              </a:rPr>
              <a:t>Gouvernance : </a:t>
            </a:r>
            <a:r>
              <a:rPr lang="fr-FR" dirty="0">
                <a:latin typeface="Century Gothic" panose="020B0502020202020204" pitchFamily="34" charset="0"/>
              </a:rPr>
              <a:t>infrastructures faibles, planification insuffisante, manque de systèmes d’alerte et de ressources financières.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89" y="2594175"/>
            <a:ext cx="3725311" cy="2118507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4"/>
          <a:stretch/>
        </p:blipFill>
        <p:spPr>
          <a:xfrm>
            <a:off x="8488355" y="577853"/>
            <a:ext cx="3703645" cy="19922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442" y="4719181"/>
            <a:ext cx="3754558" cy="213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1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Freeform 1446"/>
          <p:cNvSpPr/>
          <p:nvPr/>
        </p:nvSpPr>
        <p:spPr>
          <a:xfrm>
            <a:off x="635506" y="1397000"/>
            <a:ext cx="3320373" cy="4260857"/>
          </a:xfrm>
          <a:custGeom>
            <a:avLst/>
            <a:gdLst/>
            <a:ahLst/>
            <a:cxnLst/>
            <a:rect l="0" t="0" r="r" b="b"/>
            <a:pathLst>
              <a:path w="7885" h="12092">
                <a:moveTo>
                  <a:pt x="0" y="0"/>
                </a:moveTo>
                <a:lnTo>
                  <a:pt x="7885" y="0"/>
                </a:lnTo>
                <a:lnTo>
                  <a:pt x="7885" y="12092"/>
                </a:lnTo>
                <a:lnTo>
                  <a:pt x="0" y="12092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48" name="Freeform 1447"/>
          <p:cNvSpPr/>
          <p:nvPr/>
        </p:nvSpPr>
        <p:spPr>
          <a:xfrm>
            <a:off x="639755" y="1397000"/>
            <a:ext cx="3310954" cy="4260857"/>
          </a:xfrm>
          <a:custGeom>
            <a:avLst/>
            <a:gdLst/>
            <a:ahLst/>
            <a:cxnLst/>
            <a:rect l="0" t="0" r="r" b="b"/>
            <a:pathLst>
              <a:path w="7859" h="12066" fill="none">
                <a:moveTo>
                  <a:pt x="0" y="0"/>
                </a:moveTo>
                <a:lnTo>
                  <a:pt x="7859" y="0"/>
                </a:lnTo>
                <a:lnTo>
                  <a:pt x="7859" y="12066"/>
                </a:lnTo>
                <a:lnTo>
                  <a:pt x="0" y="12066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452" name="Picture 1451"/>
          <p:cNvPicPr/>
          <p:nvPr/>
        </p:nvPicPr>
        <p:blipFill>
          <a:blip r:embed="rId3"/>
          <a:stretch/>
        </p:blipFill>
        <p:spPr>
          <a:xfrm>
            <a:off x="1061492" y="1476198"/>
            <a:ext cx="2534751" cy="129082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4" name="TextBox 1453"/>
          <p:cNvSpPr txBox="1"/>
          <p:nvPr/>
        </p:nvSpPr>
        <p:spPr>
          <a:xfrm>
            <a:off x="926541" y="2922491"/>
            <a:ext cx="2833908" cy="215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145822"/>
                </a:solidFill>
                <a:latin typeface="Century Gothic" panose="020B0502020202020204" pitchFamily="34" charset="0"/>
                <a:ea typeface="Orbitron"/>
                <a:cs typeface="Microsoft New Tai Lue" panose="020B0502040204020203" pitchFamily="34" charset="0"/>
              </a:defRPr>
            </a:lvl1pPr>
          </a:lstStyle>
          <a:p>
            <a:r>
              <a:rPr lang="en-US" dirty="0"/>
              <a:t>Usages </a:t>
            </a:r>
            <a:r>
              <a:rPr lang="en-US" dirty="0" err="1"/>
              <a:t>mondiaux</a:t>
            </a:r>
            <a:r>
              <a:rPr lang="en-US" dirty="0"/>
              <a:t> et </a:t>
            </a:r>
            <a:r>
              <a:rPr lang="en-US" dirty="0" err="1"/>
              <a:t>africains</a:t>
            </a:r>
            <a:endParaRPr lang="en-US" dirty="0"/>
          </a:p>
        </p:txBody>
      </p:sp>
      <p:sp>
        <p:nvSpPr>
          <p:cNvPr id="1455" name="TextBox 1454"/>
          <p:cNvSpPr txBox="1"/>
          <p:nvPr/>
        </p:nvSpPr>
        <p:spPr>
          <a:xfrm>
            <a:off x="846937" y="3275023"/>
            <a:ext cx="2922140" cy="22621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P</a:t>
            </a:r>
            <a:r>
              <a:rPr lang="fr-FR" sz="1400" dirty="0" smtClean="0">
                <a:latin typeface="Century Gothic" panose="020B0502020202020204" pitchFamily="34" charset="0"/>
              </a:rPr>
              <a:t>révision météo à court et long terme,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modélisation des risques,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gestion optimisée des ressources (eau, sol, énergie).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Modèles</a:t>
            </a:r>
            <a:r>
              <a:rPr lang="en-US" sz="1400" dirty="0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prédictifs</a:t>
            </a:r>
            <a:r>
              <a:rPr lang="en-US" sz="1400" dirty="0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adaptés</a:t>
            </a:r>
            <a:r>
              <a:rPr lang="en-US" sz="1400" dirty="0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au </a:t>
            </a:r>
            <a:r>
              <a:rPr lang="en-US" sz="1400" dirty="0" err="1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contexte</a:t>
            </a:r>
            <a:r>
              <a:rPr lang="en-US" sz="1400" dirty="0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 smtClean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africain</a:t>
            </a:r>
            <a:endParaRPr lang="en-US" sz="1400" dirty="0" smtClean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62" name="Freeform 1461"/>
          <p:cNvSpPr/>
          <p:nvPr/>
        </p:nvSpPr>
        <p:spPr>
          <a:xfrm>
            <a:off x="4826619" y="1369524"/>
            <a:ext cx="3070550" cy="4270039"/>
          </a:xfrm>
          <a:custGeom>
            <a:avLst/>
            <a:gdLst/>
            <a:ahLst/>
            <a:cxnLst/>
            <a:rect l="0" t="0" r="r" b="b"/>
            <a:pathLst>
              <a:path w="7912" h="12092">
                <a:moveTo>
                  <a:pt x="0" y="0"/>
                </a:moveTo>
                <a:lnTo>
                  <a:pt x="7912" y="0"/>
                </a:lnTo>
                <a:lnTo>
                  <a:pt x="7912" y="12092"/>
                </a:lnTo>
                <a:lnTo>
                  <a:pt x="0" y="12092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63" name="Freeform 1462"/>
          <p:cNvSpPr/>
          <p:nvPr/>
        </p:nvSpPr>
        <p:spPr>
          <a:xfrm>
            <a:off x="4831193" y="1373771"/>
            <a:ext cx="3060072" cy="4260857"/>
          </a:xfrm>
          <a:custGeom>
            <a:avLst/>
            <a:gdLst/>
            <a:ahLst/>
            <a:cxnLst/>
            <a:rect l="0" t="0" r="r" b="b"/>
            <a:pathLst>
              <a:path w="7885" h="12066" fill="none">
                <a:moveTo>
                  <a:pt x="0" y="0"/>
                </a:moveTo>
                <a:lnTo>
                  <a:pt x="7885" y="0"/>
                </a:lnTo>
                <a:lnTo>
                  <a:pt x="7885" y="12066"/>
                </a:lnTo>
                <a:lnTo>
                  <a:pt x="0" y="12066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467" name="Picture 1466"/>
          <p:cNvPicPr/>
          <p:nvPr/>
        </p:nvPicPr>
        <p:blipFill>
          <a:blip r:embed="rId4"/>
          <a:stretch/>
        </p:blipFill>
        <p:spPr>
          <a:xfrm>
            <a:off x="4971059" y="1514946"/>
            <a:ext cx="2727481" cy="139556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9" name="TextBox 1468"/>
          <p:cNvSpPr txBox="1"/>
          <p:nvPr/>
        </p:nvSpPr>
        <p:spPr>
          <a:xfrm>
            <a:off x="5098061" y="3006522"/>
            <a:ext cx="2327781" cy="215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145822"/>
                </a:solidFill>
                <a:latin typeface="Century Gothic" panose="020B0502020202020204" pitchFamily="34" charset="0"/>
                <a:ea typeface="Orbitron"/>
                <a:cs typeface="Microsoft New Tai Lue" panose="020B0502040204020203" pitchFamily="34" charset="0"/>
              </a:defRPr>
            </a:lvl1pPr>
          </a:lstStyle>
          <a:p>
            <a:r>
              <a:rPr lang="fr-FR" dirty="0"/>
              <a:t>Opportunités pour l’Afrique</a:t>
            </a:r>
            <a:endParaRPr lang="en-US" dirty="0"/>
          </a:p>
        </p:txBody>
      </p:sp>
      <p:sp>
        <p:nvSpPr>
          <p:cNvPr id="1476" name="Freeform 1475"/>
          <p:cNvSpPr/>
          <p:nvPr/>
        </p:nvSpPr>
        <p:spPr>
          <a:xfrm>
            <a:off x="8672638" y="1979413"/>
            <a:ext cx="3257743" cy="4297215"/>
          </a:xfrm>
          <a:custGeom>
            <a:avLst/>
            <a:gdLst/>
            <a:ahLst/>
            <a:cxnLst/>
            <a:rect l="0" t="0" r="r" b="b"/>
            <a:pathLst>
              <a:path w="7885" h="12092">
                <a:moveTo>
                  <a:pt x="0" y="0"/>
                </a:moveTo>
                <a:lnTo>
                  <a:pt x="7885" y="0"/>
                </a:lnTo>
                <a:lnTo>
                  <a:pt x="7885" y="12092"/>
                </a:lnTo>
                <a:lnTo>
                  <a:pt x="0" y="12092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77" name="Freeform 1476"/>
          <p:cNvSpPr/>
          <p:nvPr/>
        </p:nvSpPr>
        <p:spPr>
          <a:xfrm>
            <a:off x="8676888" y="1984178"/>
            <a:ext cx="3247000" cy="4287974"/>
          </a:xfrm>
          <a:custGeom>
            <a:avLst/>
            <a:gdLst/>
            <a:ahLst/>
            <a:cxnLst/>
            <a:rect l="0" t="0" r="r" b="b"/>
            <a:pathLst>
              <a:path w="7859" h="12066" fill="none">
                <a:moveTo>
                  <a:pt x="0" y="0"/>
                </a:moveTo>
                <a:lnTo>
                  <a:pt x="7859" y="0"/>
                </a:lnTo>
                <a:lnTo>
                  <a:pt x="7859" y="12066"/>
                </a:lnTo>
                <a:lnTo>
                  <a:pt x="0" y="12066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120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78" name="Freeform 1477"/>
          <p:cNvSpPr/>
          <p:nvPr/>
        </p:nvSpPr>
        <p:spPr>
          <a:xfrm>
            <a:off x="8780670" y="4588490"/>
            <a:ext cx="66105" cy="56505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479" name="Freeform 1478"/>
          <p:cNvSpPr/>
          <p:nvPr/>
        </p:nvSpPr>
        <p:spPr>
          <a:xfrm>
            <a:off x="8780670" y="5323444"/>
            <a:ext cx="66105" cy="56505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0" name="Freeform 1479"/>
          <p:cNvSpPr/>
          <p:nvPr/>
        </p:nvSpPr>
        <p:spPr>
          <a:xfrm>
            <a:off x="8780670" y="5850885"/>
            <a:ext cx="66105" cy="56505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2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481" name="Picture 1480"/>
          <p:cNvPicPr/>
          <p:nvPr/>
        </p:nvPicPr>
        <p:blipFill>
          <a:blip r:embed="rId5"/>
          <a:stretch/>
        </p:blipFill>
        <p:spPr>
          <a:xfrm>
            <a:off x="8313002" y="1275349"/>
            <a:ext cx="3584217" cy="241537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3" name="TextBox 1482"/>
          <p:cNvSpPr txBox="1"/>
          <p:nvPr/>
        </p:nvSpPr>
        <p:spPr>
          <a:xfrm>
            <a:off x="8780670" y="3785553"/>
            <a:ext cx="2990400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145822"/>
                </a:solidFill>
                <a:latin typeface="Century Gothic" panose="020B0502020202020204" pitchFamily="34" charset="0"/>
                <a:ea typeface="Orbitron"/>
                <a:cs typeface="Microsoft New Tai Lue" panose="020B0502040204020203" pitchFamily="34" charset="0"/>
              </a:defRPr>
            </a:lvl1pPr>
          </a:lstStyle>
          <a:p>
            <a:pPr algn="ctr"/>
            <a:r>
              <a:rPr lang="fr-FR" dirty="0" smtClean="0"/>
              <a:t>Encouragement de l’innovation locale et création d’emplois.</a:t>
            </a:r>
            <a:endParaRPr lang="en-US" dirty="0"/>
          </a:p>
        </p:txBody>
      </p:sp>
      <p:sp>
        <p:nvSpPr>
          <p:cNvPr id="1484" name="TextBox 1483"/>
          <p:cNvSpPr txBox="1"/>
          <p:nvPr/>
        </p:nvSpPr>
        <p:spPr>
          <a:xfrm>
            <a:off x="8954987" y="4458890"/>
            <a:ext cx="2942232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Développement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de solutions 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5" name="TextBox 1484"/>
          <p:cNvSpPr txBox="1"/>
          <p:nvPr/>
        </p:nvSpPr>
        <p:spPr>
          <a:xfrm>
            <a:off x="8933609" y="4743281"/>
            <a:ext cx="2810964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technologiques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adaptées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8933609" y="4950794"/>
            <a:ext cx="1416325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localement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7" name="TextBox 1486"/>
          <p:cNvSpPr txBox="1"/>
          <p:nvPr/>
        </p:nvSpPr>
        <p:spPr>
          <a:xfrm>
            <a:off x="8933608" y="5270723"/>
            <a:ext cx="3073488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Renforcement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des </a:t>
            </a:r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capacités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8" name="TextBox 1487"/>
          <p:cNvSpPr txBox="1"/>
          <p:nvPr/>
        </p:nvSpPr>
        <p:spPr>
          <a:xfrm>
            <a:off x="8933608" y="5478235"/>
            <a:ext cx="2443873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techniques </a:t>
            </a:r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africaines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8933608" y="5798164"/>
            <a:ext cx="2735186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Création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d'écosystèmes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08" name="TextBox 1507"/>
          <p:cNvSpPr txBox="1"/>
          <p:nvPr/>
        </p:nvSpPr>
        <p:spPr>
          <a:xfrm>
            <a:off x="8933609" y="6005676"/>
            <a:ext cx="2566437" cy="2181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d'innovation</a:t>
            </a:r>
            <a:r>
              <a:rPr lang="en-US" sz="1400" dirty="0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 </a:t>
            </a:r>
            <a:r>
              <a:rPr lang="en-US" sz="1400" dirty="0" err="1">
                <a:solidFill>
                  <a:srgbClr val="1D1D1D"/>
                </a:solidFill>
                <a:latin typeface="Century Gothic" panose="020B0502020202020204" pitchFamily="34" charset="0"/>
                <a:ea typeface="Poppins"/>
              </a:rPr>
              <a:t>climatique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33516" y="291736"/>
            <a:ext cx="4643772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L’IA comme levier de résilience</a:t>
            </a:r>
            <a:endParaRPr lang="en-US" altLang="en-US" dirty="0"/>
          </a:p>
        </p:txBody>
      </p:sp>
      <p:sp>
        <p:nvSpPr>
          <p:cNvPr id="79" name="Freeform 78"/>
          <p:cNvSpPr/>
          <p:nvPr/>
        </p:nvSpPr>
        <p:spPr>
          <a:xfrm>
            <a:off x="4070105" y="687285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Freeform 79"/>
          <p:cNvSpPr/>
          <p:nvPr/>
        </p:nvSpPr>
        <p:spPr>
          <a:xfrm>
            <a:off x="8703" y="291736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39223" y="3275023"/>
            <a:ext cx="2844011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amélioration des prévisions locales,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alertes précoces pour protéger vies et cultures,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entury Gothic" panose="020B0502020202020204" pitchFamily="34" charset="0"/>
              </a:rPr>
              <a:t>outils d’aide à la décision pour gouvernements et ONG, 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243" y="5802920"/>
            <a:ext cx="73430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600" b="1" dirty="0" smtClean="0">
                <a:latin typeface="Century Gothic" panose="020B0502020202020204" pitchFamily="34" charset="0"/>
              </a:rPr>
              <a:t>Limites actuelles :</a:t>
            </a:r>
            <a:r>
              <a:rPr lang="fr-FR" sz="1600" dirty="0" smtClean="0">
                <a:latin typeface="Century Gothic" panose="020B0502020202020204" pitchFamily="34" charset="0"/>
              </a:rPr>
              <a:t> données locales rares ou fragmentées, infrastructures numériques limitées, coût élevé des capteurs et maintenance, manque de cadre juridique, dépendance technologique.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66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7" grpId="0" animBg="1"/>
      <p:bldP spid="1448" grpId="0" animBg="1"/>
      <p:bldP spid="1454" grpId="0"/>
      <p:bldP spid="1455" grpId="0"/>
      <p:bldP spid="1462" grpId="0" animBg="1"/>
      <p:bldP spid="1463" grpId="0" animBg="1"/>
      <p:bldP spid="1469" grpId="0"/>
      <p:bldP spid="1476" grpId="0" animBg="1"/>
      <p:bldP spid="1477" grpId="0" animBg="1"/>
      <p:bldP spid="1478" grpId="0" animBg="1"/>
      <p:bldP spid="1479" grpId="0" animBg="1"/>
      <p:bldP spid="1480" grpId="0" animBg="1"/>
      <p:bldP spid="1483" grpId="0"/>
      <p:bldP spid="1484" grpId="0"/>
      <p:bldP spid="1485" grpId="0"/>
      <p:bldP spid="1486" grpId="0"/>
      <p:bldP spid="1487" grpId="0"/>
      <p:bldP spid="1488" grpId="0"/>
      <p:bldP spid="1489" grpId="0"/>
      <p:bldP spid="1508" grpId="0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809560"/>
            <a:ext cx="3966983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Étude de cas – AgroClimat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3351436" y="1206868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809560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3451" y="2242178"/>
            <a:ext cx="68600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Genèse et objectifs : </a:t>
            </a:r>
            <a:r>
              <a:rPr lang="fr-FR" dirty="0" smtClean="0">
                <a:latin typeface="Century Gothic" panose="020B0502020202020204" pitchFamily="34" charset="0"/>
              </a:rPr>
              <a:t>relier climat et agriculture pour anticiper les catastrophes et sécuriser la production alimentaire. </a:t>
            </a:r>
          </a:p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Contribution aux ODD : ODD 2 (Faim zéro), ODD 13 (Lutte contre le changement climatique), ODD 17 (Partenariats)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821" y="4541525"/>
            <a:ext cx="69612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Méthodologie initiale : </a:t>
            </a:r>
            <a:r>
              <a:rPr lang="fr-FR" dirty="0" smtClean="0">
                <a:latin typeface="Century Gothic" panose="020B0502020202020204" pitchFamily="34" charset="0"/>
              </a:rPr>
              <a:t>exploitation des données NASA et Agence Météo Bénin → résultats limités, nécessitant des données locales plus précises.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xmlns="" id="{E016A00A-1B7F-9553-FDB7-AB8248847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082" y="0"/>
            <a:ext cx="4505918" cy="69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9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6713" y="186836"/>
            <a:ext cx="7099700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AgroClimat : Zone pilote et collecte de données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6422047" y="614589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186836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3453" y="1018380"/>
            <a:ext cx="60949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Installation de capteurs mesurant température, humidité, précipitations, vent, pression et type de sol.</a:t>
            </a:r>
          </a:p>
          <a:p>
            <a:pPr algn="just"/>
            <a:endParaRPr lang="fr-FR" b="1" dirty="0">
              <a:latin typeface="Century Gothic" panose="020B0502020202020204" pitchFamily="34" charset="0"/>
            </a:endParaRPr>
          </a:p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Objectif : </a:t>
            </a:r>
            <a:r>
              <a:rPr lang="fr-FR" dirty="0" smtClean="0">
                <a:latin typeface="Century Gothic" panose="020B0502020202020204" pitchFamily="34" charset="0"/>
              </a:rPr>
              <a:t>créer une base de données fiables pour entraîner les modèles IA.</a:t>
            </a:r>
          </a:p>
          <a:p>
            <a:pPr algn="just"/>
            <a:endParaRPr lang="fr-FR" b="1" dirty="0">
              <a:latin typeface="Century Gothic" panose="020B0502020202020204" pitchFamily="34" charset="0"/>
            </a:endParaRPr>
          </a:p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Avantages : </a:t>
            </a:r>
            <a:r>
              <a:rPr lang="fr-FR" dirty="0" smtClean="0">
                <a:latin typeface="Century Gothic" panose="020B0502020202020204" pitchFamily="34" charset="0"/>
              </a:rPr>
              <a:t>fiabilité scientifique, reproductibilité du modèle pour d’autres zones et projets.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xmlns="" id="{7CCC30E4-72F4-E5B3-80AE-D2606D36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3" y="3346157"/>
            <a:ext cx="6328647" cy="35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xmlns="" id="{589218C0-77D3-C9FE-C40C-9C4A68D6A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064" y="1018380"/>
            <a:ext cx="4877267" cy="282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xmlns="" id="{20FE15D1-F828-7440-BCD1-00CFE1FA8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064" y="3814388"/>
            <a:ext cx="4877267" cy="304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1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6713" y="186836"/>
            <a:ext cx="5600892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AgroClimat : Contributions attendues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4932251" y="563991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186836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43662277"/>
              </p:ext>
            </p:extLst>
          </p:nvPr>
        </p:nvGraphicFramePr>
        <p:xfrm>
          <a:off x="553453" y="1053396"/>
          <a:ext cx="9988273" cy="2068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09987571"/>
              </p:ext>
            </p:extLst>
          </p:nvPr>
        </p:nvGraphicFramePr>
        <p:xfrm>
          <a:off x="553453" y="3167291"/>
          <a:ext cx="9988273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585089599"/>
              </p:ext>
            </p:extLst>
          </p:nvPr>
        </p:nvGraphicFramePr>
        <p:xfrm>
          <a:off x="553452" y="4742020"/>
          <a:ext cx="9988273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86035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6" grpId="0">
        <p:bldAsOne/>
      </p:bldGraphic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175226"/>
            <a:ext cx="6823984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AgroClimat : Reconnaissance et perspectives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6291795" y="577853"/>
            <a:ext cx="1264035" cy="213291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175226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6726" y="1015999"/>
            <a:ext cx="117863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Double prix DSI Awards 2024 : </a:t>
            </a:r>
            <a:r>
              <a:rPr lang="fr-FR" dirty="0" smtClean="0">
                <a:latin typeface="Century Gothic" panose="020B0502020202020204" pitchFamily="34" charset="0"/>
              </a:rPr>
              <a:t>Data Science &amp; Agriculture → crédibilité et attractivité pour financement.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5639" y="4340648"/>
            <a:ext cx="70023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Déploiement futur : </a:t>
            </a:r>
            <a:r>
              <a:rPr lang="fr-FR" dirty="0" smtClean="0">
                <a:latin typeface="Century Gothic" panose="020B0502020202020204" pitchFamily="34" charset="0"/>
              </a:rPr>
              <a:t>échelle nationale puis régionale</a:t>
            </a:r>
            <a:r>
              <a:rPr lang="fr-FR" b="1" dirty="0" smtClean="0">
                <a:latin typeface="Century Gothic" panose="020B050202020202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5639" y="5005396"/>
            <a:ext cx="7002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Intégration de données satellites, communautaires et régionales.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95" y="1482795"/>
            <a:ext cx="2562437" cy="2562437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94" y="1482795"/>
            <a:ext cx="2562437" cy="256243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ectangle 12"/>
          <p:cNvSpPr/>
          <p:nvPr/>
        </p:nvSpPr>
        <p:spPr>
          <a:xfrm>
            <a:off x="405639" y="5947143"/>
            <a:ext cx="7002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Prévision d’autres phénomènes naturels, y compris tremblements de terre.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1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550077"/>
            <a:ext cx="2444580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Regards croisés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2286000" y="994853"/>
            <a:ext cx="883393" cy="188490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50077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83350" y="1577702"/>
            <a:ext cx="8798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Juridique : </a:t>
            </a:r>
            <a:r>
              <a:rPr lang="fr-FR" dirty="0" smtClean="0">
                <a:latin typeface="Century Gothic" panose="020B0502020202020204" pitchFamily="34" charset="0"/>
              </a:rPr>
              <a:t>gouvernance des données et responsabilité en cas d’erreur → protéger agriculteurs et intérêt public.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83350" y="2618393"/>
            <a:ext cx="8798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Politique : </a:t>
            </a:r>
            <a:r>
              <a:rPr lang="fr-FR" dirty="0" smtClean="0">
                <a:latin typeface="Century Gothic" panose="020B0502020202020204" pitchFamily="34" charset="0"/>
              </a:rPr>
              <a:t>souveraineté numérique et intégration dans les politiques climatiques nationales/régionales → renforcer l’indépendance et l’efficacité.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83349" y="3790551"/>
            <a:ext cx="87980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Économique</a:t>
            </a:r>
            <a:r>
              <a:rPr lang="fr-FR" dirty="0" smtClean="0">
                <a:latin typeface="Century Gothic" panose="020B0502020202020204" pitchFamily="34" charset="0"/>
              </a:rPr>
              <a:t> : réduction des pertes agricoles, sécurisation des chaînes d’approvisionnement, accès aux financements climatiques → meilleure productivité et sécurité alimentaire.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3349" y="5108241"/>
            <a:ext cx="87980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Sociologique/éthique</a:t>
            </a:r>
            <a:r>
              <a:rPr lang="fr-FR" dirty="0" smtClean="0">
                <a:latin typeface="Century Gothic" panose="020B0502020202020204" pitchFamily="34" charset="0"/>
              </a:rPr>
              <a:t> : justice climatique, inclusion sociale, accessibilité des prévisions aux populations vulnérables → l’IA doit être inclusive et équitable.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1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Freeform 1713"/>
          <p:cNvSpPr/>
          <p:nvPr/>
        </p:nvSpPr>
        <p:spPr>
          <a:xfrm>
            <a:off x="1571659" y="328425"/>
            <a:ext cx="8823" cy="6208382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3" name="Freeform 1722"/>
          <p:cNvSpPr/>
          <p:nvPr/>
        </p:nvSpPr>
        <p:spPr>
          <a:xfrm>
            <a:off x="1571659" y="328425"/>
            <a:ext cx="9053427" cy="6209036"/>
          </a:xfrm>
          <a:custGeom>
            <a:avLst/>
            <a:gdLst/>
            <a:ahLst/>
            <a:cxnLst/>
            <a:rect l="0" t="0" r="r" b="b"/>
            <a:pathLst>
              <a:path w="27704" h="19000">
                <a:moveTo>
                  <a:pt x="27704" y="0"/>
                </a:moveTo>
                <a:lnTo>
                  <a:pt x="27704" y="19000"/>
                </a:lnTo>
                <a:lnTo>
                  <a:pt x="0" y="19000"/>
                </a:lnTo>
                <a:lnTo>
                  <a:pt x="0" y="18998"/>
                </a:lnTo>
                <a:lnTo>
                  <a:pt x="27703" y="18998"/>
                </a:lnTo>
                <a:lnTo>
                  <a:pt x="27703" y="0"/>
                </a:lnTo>
                <a:lnTo>
                  <a:pt x="27704" y="0"/>
                </a:lnTo>
                <a:close/>
              </a:path>
            </a:pathLst>
          </a:custGeom>
          <a:solidFill>
            <a:srgbClr val="000000">
              <a:alpha val="5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5" name="Freeform 1724"/>
          <p:cNvSpPr/>
          <p:nvPr/>
        </p:nvSpPr>
        <p:spPr>
          <a:xfrm>
            <a:off x="2051698" y="3543520"/>
            <a:ext cx="2582323" cy="2466534"/>
          </a:xfrm>
          <a:custGeom>
            <a:avLst/>
            <a:gdLst/>
            <a:ahLst/>
            <a:cxnLst/>
            <a:rect l="0" t="0" r="r" b="b"/>
            <a:pathLst>
              <a:path w="7885" h="6906">
                <a:moveTo>
                  <a:pt x="0" y="0"/>
                </a:moveTo>
                <a:lnTo>
                  <a:pt x="7885" y="0"/>
                </a:lnTo>
                <a:lnTo>
                  <a:pt x="7885" y="6906"/>
                </a:lnTo>
                <a:lnTo>
                  <a:pt x="0" y="6906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Freeform 1725"/>
          <p:cNvSpPr/>
          <p:nvPr/>
        </p:nvSpPr>
        <p:spPr>
          <a:xfrm>
            <a:off x="2055965" y="3547767"/>
            <a:ext cx="2573808" cy="2457247"/>
          </a:xfrm>
          <a:custGeom>
            <a:avLst/>
            <a:gdLst/>
            <a:ahLst/>
            <a:cxnLst/>
            <a:rect l="0" t="0" r="r" b="b"/>
            <a:pathLst>
              <a:path w="7859" h="6880" fill="none">
                <a:moveTo>
                  <a:pt x="0" y="0"/>
                </a:moveTo>
                <a:lnTo>
                  <a:pt x="7859" y="0"/>
                </a:lnTo>
                <a:lnTo>
                  <a:pt x="7859" y="6880"/>
                </a:lnTo>
                <a:lnTo>
                  <a:pt x="0" y="6880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27" name="Picture 1726"/>
          <p:cNvPicPr/>
          <p:nvPr/>
        </p:nvPicPr>
        <p:blipFill>
          <a:blip r:embed="rId3"/>
          <a:stretch/>
        </p:blipFill>
        <p:spPr>
          <a:xfrm>
            <a:off x="2050386" y="1917406"/>
            <a:ext cx="2584615" cy="158899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8" name="TextBox 1727"/>
          <p:cNvSpPr txBox="1"/>
          <p:nvPr/>
        </p:nvSpPr>
        <p:spPr>
          <a:xfrm>
            <a:off x="3987245" y="1366552"/>
            <a:ext cx="4419480" cy="2514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34" b="1" dirty="0" err="1">
                <a:solidFill>
                  <a:srgbClr val="145822"/>
                </a:solidFill>
                <a:latin typeface="Orbitron"/>
                <a:ea typeface="Orbitron"/>
              </a:rPr>
              <a:t>Mise</a:t>
            </a:r>
            <a:r>
              <a:rPr lang="en-US" sz="1634" b="1" dirty="0">
                <a:solidFill>
                  <a:srgbClr val="145822"/>
                </a:solidFill>
                <a:latin typeface="Orbitron"/>
                <a:ea typeface="Orbitron"/>
              </a:rPr>
              <a:t> </a:t>
            </a:r>
            <a:r>
              <a:rPr lang="en-US" sz="1634" b="1" dirty="0" err="1">
                <a:solidFill>
                  <a:srgbClr val="145822"/>
                </a:solidFill>
                <a:latin typeface="Orbitron"/>
                <a:ea typeface="Orbitron"/>
              </a:rPr>
              <a:t>en</a:t>
            </a:r>
            <a:r>
              <a:rPr lang="en-US" sz="1634" b="1" dirty="0">
                <a:solidFill>
                  <a:srgbClr val="145822"/>
                </a:solidFill>
                <a:latin typeface="Orbitron"/>
                <a:ea typeface="Orbitron"/>
              </a:rPr>
              <a:t> </a:t>
            </a:r>
            <a:r>
              <a:rPr lang="en-US" sz="1634" b="1" dirty="0" err="1">
                <a:solidFill>
                  <a:srgbClr val="145822"/>
                </a:solidFill>
                <a:latin typeface="Orbitron"/>
                <a:ea typeface="Orbitron"/>
              </a:rPr>
              <a:t>Œuvre</a:t>
            </a:r>
            <a:r>
              <a:rPr lang="en-US" sz="1634" b="1" dirty="0">
                <a:solidFill>
                  <a:srgbClr val="145822"/>
                </a:solidFill>
                <a:latin typeface="Orbitron"/>
                <a:ea typeface="Orbitron"/>
              </a:rPr>
              <a:t> et </a:t>
            </a:r>
            <a:r>
              <a:rPr lang="en-US" sz="1634" b="1" dirty="0" err="1">
                <a:solidFill>
                  <a:srgbClr val="145822"/>
                </a:solidFill>
                <a:latin typeface="Orbitron"/>
                <a:ea typeface="Orbitron"/>
              </a:rPr>
              <a:t>Coopération</a:t>
            </a:r>
            <a:r>
              <a:rPr lang="en-US" sz="1634" b="1" dirty="0">
                <a:solidFill>
                  <a:srgbClr val="145822"/>
                </a:solidFill>
                <a:latin typeface="Orbitron"/>
                <a:ea typeface="Orbitron"/>
              </a:rPr>
              <a:t> Multi-</a:t>
            </a:r>
            <a:r>
              <a:rPr lang="en-US" sz="1634" b="1" dirty="0" err="1">
                <a:solidFill>
                  <a:srgbClr val="145822"/>
                </a:solidFill>
                <a:latin typeface="Orbitron"/>
                <a:ea typeface="Orbitron"/>
              </a:rPr>
              <a:t>Acteurs</a:t>
            </a:r>
            <a:endParaRPr lang="en-US" sz="1634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TextBox 1728"/>
          <p:cNvSpPr txBox="1"/>
          <p:nvPr/>
        </p:nvSpPr>
        <p:spPr>
          <a:xfrm>
            <a:off x="2202094" y="3698419"/>
            <a:ext cx="1034567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Coopération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2201300" y="3905932"/>
            <a:ext cx="1402449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Interdisciplinaire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TextBox 1730"/>
          <p:cNvSpPr txBox="1"/>
          <p:nvPr/>
        </p:nvSpPr>
        <p:spPr>
          <a:xfrm>
            <a:off x="2200979" y="4222591"/>
            <a:ext cx="1551850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La réussite d'AgroClimat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TextBox 1731"/>
          <p:cNvSpPr txBox="1"/>
          <p:nvPr/>
        </p:nvSpPr>
        <p:spPr>
          <a:xfrm>
            <a:off x="2200608" y="4430103"/>
            <a:ext cx="1723743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nécessite une collaboration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2200988" y="4637616"/>
            <a:ext cx="1547031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étroite entre chercheurs,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TextBox 1733"/>
          <p:cNvSpPr txBox="1"/>
          <p:nvPr/>
        </p:nvSpPr>
        <p:spPr>
          <a:xfrm>
            <a:off x="2200404" y="4845128"/>
            <a:ext cx="1818524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décideurs politiques, ONG et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TextBox 1734"/>
          <p:cNvSpPr txBox="1"/>
          <p:nvPr/>
        </p:nvSpPr>
        <p:spPr>
          <a:xfrm>
            <a:off x="2200649" y="5052641"/>
            <a:ext cx="1704466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communautés locales pour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2200143" y="5260153"/>
            <a:ext cx="1939010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assurer l'acceptation sociale et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Freeform 1736"/>
          <p:cNvSpPr/>
          <p:nvPr/>
        </p:nvSpPr>
        <p:spPr>
          <a:xfrm>
            <a:off x="4800975" y="1918060"/>
            <a:ext cx="2591165" cy="2476176"/>
          </a:xfrm>
          <a:custGeom>
            <a:avLst/>
            <a:gdLst/>
            <a:ahLst/>
            <a:cxnLst/>
            <a:rect l="0" t="0" r="r" b="b"/>
            <a:pathLst>
              <a:path w="7912" h="6933">
                <a:moveTo>
                  <a:pt x="0" y="0"/>
                </a:moveTo>
                <a:lnTo>
                  <a:pt x="7912" y="0"/>
                </a:lnTo>
                <a:lnTo>
                  <a:pt x="7912" y="6933"/>
                </a:lnTo>
                <a:lnTo>
                  <a:pt x="0" y="6933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Freeform 1737"/>
          <p:cNvSpPr/>
          <p:nvPr/>
        </p:nvSpPr>
        <p:spPr>
          <a:xfrm>
            <a:off x="4805568" y="1922308"/>
            <a:ext cx="2582323" cy="2466534"/>
          </a:xfrm>
          <a:custGeom>
            <a:avLst/>
            <a:gdLst/>
            <a:ahLst/>
            <a:cxnLst/>
            <a:rect l="0" t="0" r="r" b="b"/>
            <a:pathLst>
              <a:path w="7885" h="6906" fill="none">
                <a:moveTo>
                  <a:pt x="0" y="0"/>
                </a:moveTo>
                <a:lnTo>
                  <a:pt x="7885" y="0"/>
                </a:lnTo>
                <a:lnTo>
                  <a:pt x="7885" y="6906"/>
                </a:lnTo>
                <a:lnTo>
                  <a:pt x="0" y="6906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39" name="Picture 1738"/>
          <p:cNvPicPr/>
          <p:nvPr/>
        </p:nvPicPr>
        <p:blipFill>
          <a:blip r:embed="rId4"/>
          <a:stretch/>
        </p:blipFill>
        <p:spPr>
          <a:xfrm>
            <a:off x="4798348" y="4354616"/>
            <a:ext cx="2596406" cy="158149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0" name="TextBox 1739"/>
          <p:cNvSpPr txBox="1"/>
          <p:nvPr/>
        </p:nvSpPr>
        <p:spPr>
          <a:xfrm>
            <a:off x="2201180" y="5467666"/>
            <a:ext cx="1458675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l'efficacité des solutions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1" name="TextBox 1740"/>
          <p:cNvSpPr txBox="1"/>
          <p:nvPr/>
        </p:nvSpPr>
        <p:spPr>
          <a:xfrm>
            <a:off x="4953152" y="2072959"/>
            <a:ext cx="1580767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Financement Mixte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4954984" y="2280472"/>
            <a:ext cx="732550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Innovant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" name="TextBox 1742"/>
          <p:cNvSpPr txBox="1"/>
          <p:nvPr/>
        </p:nvSpPr>
        <p:spPr>
          <a:xfrm>
            <a:off x="4952608" y="2597131"/>
            <a:ext cx="1832983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Mobilisation de financements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4" name="TextBox 1743"/>
          <p:cNvSpPr txBox="1"/>
          <p:nvPr/>
        </p:nvSpPr>
        <p:spPr>
          <a:xfrm>
            <a:off x="4952928" y="2804643"/>
            <a:ext cx="1685188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internationaux climatiques,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4952410" y="3012156"/>
            <a:ext cx="1924552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investissements publics-privés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6" name="TextBox 1745"/>
          <p:cNvSpPr txBox="1"/>
          <p:nvPr/>
        </p:nvSpPr>
        <p:spPr>
          <a:xfrm>
            <a:off x="4952400" y="3219668"/>
            <a:ext cx="1929371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et mécanismes innovants pour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7" name="TextBox 1746"/>
          <p:cNvSpPr txBox="1"/>
          <p:nvPr/>
        </p:nvSpPr>
        <p:spPr>
          <a:xfrm>
            <a:off x="4953132" y="3427181"/>
            <a:ext cx="1590406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soutenir le déploiement à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8" name="Freeform 1747"/>
          <p:cNvSpPr/>
          <p:nvPr/>
        </p:nvSpPr>
        <p:spPr>
          <a:xfrm>
            <a:off x="7559439" y="3543520"/>
            <a:ext cx="2582323" cy="2466534"/>
          </a:xfrm>
          <a:custGeom>
            <a:avLst/>
            <a:gdLst/>
            <a:ahLst/>
            <a:cxnLst/>
            <a:rect l="0" t="0" r="r" b="b"/>
            <a:pathLst>
              <a:path w="7885" h="6906">
                <a:moveTo>
                  <a:pt x="0" y="0"/>
                </a:moveTo>
                <a:lnTo>
                  <a:pt x="7885" y="0"/>
                </a:lnTo>
                <a:lnTo>
                  <a:pt x="7885" y="6906"/>
                </a:lnTo>
                <a:lnTo>
                  <a:pt x="0" y="6906"/>
                </a:lnTo>
                <a:lnTo>
                  <a:pt x="0" y="0"/>
                </a:lnTo>
                <a:close/>
              </a:path>
            </a:pathLst>
          </a:custGeom>
          <a:solidFill>
            <a:srgbClr val="A5CCA0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" name="Freeform 1748"/>
          <p:cNvSpPr/>
          <p:nvPr/>
        </p:nvSpPr>
        <p:spPr>
          <a:xfrm>
            <a:off x="7563707" y="3547767"/>
            <a:ext cx="2573808" cy="2457247"/>
          </a:xfrm>
          <a:custGeom>
            <a:avLst/>
            <a:gdLst/>
            <a:ahLst/>
            <a:cxnLst/>
            <a:rect l="0" t="0" r="r" b="b"/>
            <a:pathLst>
              <a:path w="7859" h="6880" fill="none">
                <a:moveTo>
                  <a:pt x="0" y="0"/>
                </a:moveTo>
                <a:lnTo>
                  <a:pt x="7859" y="0"/>
                </a:lnTo>
                <a:lnTo>
                  <a:pt x="7859" y="6880"/>
                </a:lnTo>
                <a:lnTo>
                  <a:pt x="0" y="6880"/>
                </a:lnTo>
                <a:lnTo>
                  <a:pt x="0" y="0"/>
                </a:lnTo>
              </a:path>
            </a:pathLst>
          </a:custGeom>
          <a:ln w="9360">
            <a:solidFill>
              <a:srgbClr val="65A16D"/>
            </a:solidFill>
            <a:miter/>
          </a:ln>
        </p:spPr>
        <p:txBody>
          <a:bodyPr lIns="4248" tIns="4248" rIns="4248" bIns="4248" anchor="t">
            <a:noAutofit/>
          </a:bodyPr>
          <a:lstStyle/>
          <a:p>
            <a:endParaRPr lang="en-US" sz="2179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50" name="Picture 1749"/>
          <p:cNvPicPr/>
          <p:nvPr/>
        </p:nvPicPr>
        <p:blipFill>
          <a:blip r:embed="rId5"/>
          <a:stretch/>
        </p:blipFill>
        <p:spPr>
          <a:xfrm>
            <a:off x="7558127" y="1917406"/>
            <a:ext cx="2584615" cy="158899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1" name="TextBox 1750"/>
          <p:cNvSpPr txBox="1"/>
          <p:nvPr/>
        </p:nvSpPr>
        <p:spPr>
          <a:xfrm>
            <a:off x="4952394" y="3634693"/>
            <a:ext cx="1932584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grande échelle des solutions IA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7705152" y="3698419"/>
            <a:ext cx="1842622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Stratégie Panafricaine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3" name="TextBox 1752"/>
          <p:cNvSpPr txBox="1"/>
          <p:nvPr/>
        </p:nvSpPr>
        <p:spPr>
          <a:xfrm>
            <a:off x="7707654" y="3905932"/>
            <a:ext cx="682751" cy="209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362" b="1">
                <a:solidFill>
                  <a:srgbClr val="145822"/>
                </a:solidFill>
                <a:latin typeface="Orbitron"/>
                <a:ea typeface="Orbitron"/>
              </a:rPr>
              <a:t>Intégrée</a:t>
            </a:r>
            <a:endParaRPr lang="en-US" sz="1362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4" name="TextBox 1753"/>
          <p:cNvSpPr txBox="1"/>
          <p:nvPr/>
        </p:nvSpPr>
        <p:spPr>
          <a:xfrm>
            <a:off x="7705220" y="4222591"/>
            <a:ext cx="1810493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Harmonisation des initiatives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7705342" y="4430103"/>
            <a:ext cx="1754265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continentales, mutualisation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6" name="TextBox 1755"/>
          <p:cNvSpPr txBox="1"/>
          <p:nvPr/>
        </p:nvSpPr>
        <p:spPr>
          <a:xfrm>
            <a:off x="7705996" y="4637616"/>
            <a:ext cx="1450643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des investissements et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7" name="TextBox 1756"/>
          <p:cNvSpPr txBox="1"/>
          <p:nvPr/>
        </p:nvSpPr>
        <p:spPr>
          <a:xfrm>
            <a:off x="7706575" y="4845128"/>
            <a:ext cx="1182362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développement de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7705025" y="5052641"/>
            <a:ext cx="1900455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l'interopérabilité des systèmes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9" name="TextBox 1758"/>
          <p:cNvSpPr txBox="1"/>
          <p:nvPr/>
        </p:nvSpPr>
        <p:spPr>
          <a:xfrm>
            <a:off x="7705890" y="5260153"/>
            <a:ext cx="1500443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pour maximiser l'impact 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TextBox 1777"/>
          <p:cNvSpPr txBox="1"/>
          <p:nvPr/>
        </p:nvSpPr>
        <p:spPr>
          <a:xfrm>
            <a:off x="7708063" y="5467666"/>
            <a:ext cx="493186" cy="1676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089">
                <a:solidFill>
                  <a:srgbClr val="1D1D1D"/>
                </a:solidFill>
                <a:latin typeface="Poppins"/>
                <a:ea typeface="Poppins"/>
              </a:rPr>
              <a:t>régional</a:t>
            </a:r>
            <a:endParaRPr lang="en-US" sz="1089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24813" y="550077"/>
            <a:ext cx="3262432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Vers un cadre africain</a:t>
            </a:r>
            <a:endParaRPr lang="en-US" altLang="en-US" dirty="0"/>
          </a:p>
        </p:txBody>
      </p:sp>
      <p:sp>
        <p:nvSpPr>
          <p:cNvPr id="70" name="Freeform 69"/>
          <p:cNvSpPr/>
          <p:nvPr/>
        </p:nvSpPr>
        <p:spPr>
          <a:xfrm>
            <a:off x="3103852" y="969732"/>
            <a:ext cx="883393" cy="188490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Freeform 70"/>
          <p:cNvSpPr/>
          <p:nvPr/>
        </p:nvSpPr>
        <p:spPr>
          <a:xfrm>
            <a:off x="0" y="550077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813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5" grpId="0" animBg="1"/>
      <p:bldP spid="1726" grpId="0" animBg="1"/>
      <p:bldP spid="1729" grpId="0"/>
      <p:bldP spid="1730" grpId="0"/>
      <p:bldP spid="1731" grpId="0"/>
      <p:bldP spid="1732" grpId="0"/>
      <p:bldP spid="1733" grpId="0"/>
      <p:bldP spid="1734" grpId="0"/>
      <p:bldP spid="1735" grpId="0"/>
      <p:bldP spid="1736" grpId="0"/>
      <p:bldP spid="1737" grpId="0" animBg="1"/>
      <p:bldP spid="1738" grpId="0" animBg="1"/>
      <p:bldP spid="1740" grpId="0"/>
      <p:bldP spid="1741" grpId="0"/>
      <p:bldP spid="1742" grpId="0"/>
      <p:bldP spid="1743" grpId="0"/>
      <p:bldP spid="1744" grpId="0"/>
      <p:bldP spid="1745" grpId="0"/>
      <p:bldP spid="1746" grpId="0"/>
      <p:bldP spid="1747" grpId="0"/>
      <p:bldP spid="1748" grpId="0" animBg="1"/>
      <p:bldP spid="1749" grpId="0" animBg="1"/>
      <p:bldP spid="1751" grpId="0"/>
      <p:bldP spid="1752" grpId="0"/>
      <p:bldP spid="1753" grpId="0"/>
      <p:bldP spid="1754" grpId="0"/>
      <p:bldP spid="1755" grpId="0"/>
      <p:bldP spid="1756" grpId="0"/>
      <p:bldP spid="1757" grpId="0"/>
      <p:bldP spid="1758" grpId="0"/>
      <p:bldP spid="1759" grpId="0"/>
      <p:bldP spid="17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550077"/>
            <a:ext cx="3262432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Vers un cadre africain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3103852" y="969732"/>
            <a:ext cx="883393" cy="188490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50077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83350" y="2146127"/>
            <a:ext cx="87980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Cadre réglementaire : </a:t>
            </a:r>
            <a:r>
              <a:rPr lang="fr-FR" dirty="0" smtClean="0">
                <a:latin typeface="Century Gothic" panose="020B0502020202020204" pitchFamily="34" charset="0"/>
              </a:rPr>
              <a:t>législation sur les données, responsabilité des algorithmes, normes éthiques → protection des citoyens et encouragement à l’innovation locale.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83349" y="4057363"/>
            <a:ext cx="87980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smtClean="0">
                <a:latin typeface="Century Gothic" panose="020B0502020202020204" pitchFamily="34" charset="0"/>
              </a:rPr>
              <a:t>Recommandations : </a:t>
            </a:r>
            <a:r>
              <a:rPr lang="fr-FR" dirty="0" smtClean="0">
                <a:latin typeface="Century Gothic" panose="020B0502020202020204" pitchFamily="34" charset="0"/>
              </a:rPr>
              <a:t>zones pilotes, bases de données intégrées (climatiques + agricoles), financement mixte, formation, communautés de pratiques, interaction météo-agriculteurs, intégration dans les ODD → garantir efficacité et durabilité.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4813" y="550077"/>
            <a:ext cx="1712007" cy="3771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451" b="1">
                <a:solidFill>
                  <a:srgbClr val="145822"/>
                </a:solidFill>
                <a:latin typeface="Orbitron"/>
                <a:ea typeface="Orbitron"/>
              </a:defRPr>
            </a:lvl1pPr>
          </a:lstStyle>
          <a:p>
            <a:r>
              <a:rPr lang="fr-FR" altLang="en-US" dirty="0" smtClean="0"/>
              <a:t>Conclusion</a:t>
            </a:r>
            <a:endParaRPr lang="en-US" altLang="en-US" dirty="0"/>
          </a:p>
        </p:txBody>
      </p:sp>
      <p:sp>
        <p:nvSpPr>
          <p:cNvPr id="10" name="Freeform 9"/>
          <p:cNvSpPr/>
          <p:nvPr/>
        </p:nvSpPr>
        <p:spPr>
          <a:xfrm>
            <a:off x="1553427" y="969732"/>
            <a:ext cx="883393" cy="188490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50077"/>
            <a:ext cx="553453" cy="377155"/>
          </a:xfrm>
          <a:custGeom>
            <a:avLst/>
            <a:gdLst/>
            <a:ahLst/>
            <a:cxnLst/>
            <a:rect l="0" t="0" r="r" b="b"/>
            <a:pathLst>
              <a:path w="27" h="18998">
                <a:moveTo>
                  <a:pt x="0" y="0"/>
                </a:moveTo>
                <a:lnTo>
                  <a:pt x="27" y="0"/>
                </a:lnTo>
                <a:lnTo>
                  <a:pt x="27" y="18998"/>
                </a:lnTo>
                <a:lnTo>
                  <a:pt x="0" y="18998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anchor="t">
            <a:noAutofit/>
          </a:bodyPr>
          <a:lstStyle/>
          <a:p>
            <a:endParaRPr lang="en-US" sz="2179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83350" y="1735564"/>
            <a:ext cx="8798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L’Afrique est à un carrefour décisif face aux phénomènes climatiques extrêmes.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83350" y="2900874"/>
            <a:ext cx="87980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L’IA est un levier stratégique pour protéger populations, infrastructures et agriculture.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83349" y="4067550"/>
            <a:ext cx="87980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AgroClimat illustre la synergie possible entre innovation technologique, gouvernance et développement durable.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3349" y="5108241"/>
            <a:ext cx="87980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>
                <a:latin typeface="Century Gothic" panose="020B0502020202020204" pitchFamily="34" charset="0"/>
              </a:rPr>
              <a:t>La résilience climatique nécessite une approche interdisciplinaire, inclusive et coordonnée à l’échelle africaine.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34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2" name="Picture 2921"/>
          <p:cNvPicPr/>
          <p:nvPr/>
        </p:nvPicPr>
        <p:blipFill>
          <a:blip r:embed="rId2"/>
          <a:stretch/>
        </p:blipFill>
        <p:spPr>
          <a:xfrm>
            <a:off x="0" y="0"/>
            <a:ext cx="518615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8" name="TextBox 4207"/>
          <p:cNvSpPr txBox="1"/>
          <p:nvPr/>
        </p:nvSpPr>
        <p:spPr>
          <a:xfrm>
            <a:off x="6864824" y="2947532"/>
            <a:ext cx="4356834" cy="419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23" b="1" dirty="0">
                <a:solidFill>
                  <a:srgbClr val="000000"/>
                </a:solidFill>
                <a:latin typeface="Orbitron"/>
                <a:ea typeface="Orbitron"/>
              </a:rPr>
              <a:t>Merci pour </a:t>
            </a:r>
            <a:r>
              <a:rPr lang="en-US" sz="2723" b="1" dirty="0" err="1">
                <a:solidFill>
                  <a:srgbClr val="000000"/>
                </a:solidFill>
                <a:latin typeface="Orbitron"/>
                <a:ea typeface="Orbitron"/>
              </a:rPr>
              <a:t>votre</a:t>
            </a:r>
            <a:r>
              <a:rPr lang="en-US" sz="2723" b="1" dirty="0">
                <a:solidFill>
                  <a:srgbClr val="000000"/>
                </a:solidFill>
                <a:latin typeface="Orbitron"/>
                <a:ea typeface="Orbitron"/>
              </a:rPr>
              <a:t> Attention</a:t>
            </a:r>
            <a:endParaRPr lang="en-US" sz="2723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02" name="Picture 260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98" y="905682"/>
            <a:ext cx="2209800" cy="1391915"/>
          </a:xfrm>
          <a:prstGeom prst="rect">
            <a:avLst/>
          </a:prstGeom>
        </p:spPr>
      </p:pic>
      <p:sp>
        <p:nvSpPr>
          <p:cNvPr id="2604" name="Rectangle 2603"/>
          <p:cNvSpPr/>
          <p:nvPr/>
        </p:nvSpPr>
        <p:spPr>
          <a:xfrm>
            <a:off x="5033750" y="3582125"/>
            <a:ext cx="6910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lang="fr-FR" b="1" dirty="0" smtClean="0"/>
              <a:t>Pacôme SODAZINDJI</a:t>
            </a:r>
          </a:p>
          <a:p>
            <a:pPr algn="ctr">
              <a:defRPr sz="1800"/>
            </a:pPr>
            <a:r>
              <a:rPr lang="fr-FR" dirty="0" smtClean="0"/>
              <a:t>Spécialiste IT, Data et IA – Responsable SI chez GDB &amp; ASSOCIES</a:t>
            </a:r>
            <a:endParaRPr lang="fr-FR" dirty="0"/>
          </a:p>
          <a:p>
            <a:pPr algn="ctr">
              <a:defRPr sz="1800"/>
            </a:pPr>
            <a:r>
              <a:rPr lang="fr-FR" dirty="0" smtClean="0"/>
              <a:t>Double Lauréat </a:t>
            </a:r>
            <a:r>
              <a:rPr lang="fr-FR" dirty="0"/>
              <a:t>DSI Awards 2024 – Catégorie Data Science &amp; </a:t>
            </a:r>
            <a:r>
              <a:rPr lang="fr-FR" dirty="0" smtClean="0"/>
              <a:t>Agriculture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37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1202</Words>
  <Application>Microsoft Office PowerPoint</Application>
  <PresentationFormat>Widescreen</PresentationFormat>
  <Paragraphs>150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Microsoft New Tai Lue</vt:lpstr>
      <vt:lpstr>Orbitron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GDB ET ASSOCIES TECH</dc:creator>
  <cp:lastModifiedBy>GDB ET ASSOCIES TECH</cp:lastModifiedBy>
  <cp:revision>28</cp:revision>
  <dcterms:created xsi:type="dcterms:W3CDTF">2025-10-23T02:05:27Z</dcterms:created>
  <dcterms:modified xsi:type="dcterms:W3CDTF">2025-10-23T09:41:30Z</dcterms:modified>
</cp:coreProperties>
</file>